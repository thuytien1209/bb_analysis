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Cinzel Decorative" panose="020B0604020202020204" charset="0"/>
      <p:regular r:id="rId19"/>
    </p:embeddedFont>
    <p:embeddedFont>
      <p:font typeface="Cinzel Decorative Bold" panose="020B0604020202020204" charset="0"/>
      <p:regular r:id="rId20"/>
    </p:embeddedFont>
    <p:embeddedFont>
      <p:font typeface="Open Sans" panose="020B0606030504020204" pitchFamily="34" charset="0"/>
      <p:regular r:id="rId21"/>
    </p:embeddedFont>
    <p:embeddedFont>
      <p:font typeface="Open Sauce" panose="020B0604020202020204" charset="0"/>
      <p:regular r:id="rId22"/>
    </p:embeddedFont>
    <p:embeddedFont>
      <p:font typeface="Open Sauce 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378" y="2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ThuyTien1209/BB_Analysis.git" TargetMode="External"/><Relationship Id="rId2" Type="http://schemas.openxmlformats.org/officeDocument/2006/relationships/image" Target="../media/image2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F2F0"/>
        </a:solidFill>
        <a:effectLst/>
      </p:bgPr>
    </p:bg>
    <p:spTree>
      <p:nvGrpSpPr>
        <p:cNvPr id="1" name=""/>
        <p:cNvGrpSpPr/>
        <p:nvPr/>
      </p:nvGrpSpPr>
      <p:grpSpPr>
        <a:xfrm>
          <a:off x="0" y="0"/>
          <a:ext cx="0" cy="0"/>
          <a:chOff x="0" y="0"/>
          <a:chExt cx="0" cy="0"/>
        </a:xfrm>
      </p:grpSpPr>
      <p:sp>
        <p:nvSpPr>
          <p:cNvPr id="2" name="TextBox 2"/>
          <p:cNvSpPr txBox="1"/>
          <p:nvPr/>
        </p:nvSpPr>
        <p:spPr>
          <a:xfrm>
            <a:off x="7879397" y="1950085"/>
            <a:ext cx="8290562" cy="4643756"/>
          </a:xfrm>
          <a:prstGeom prst="rect">
            <a:avLst/>
          </a:prstGeom>
        </p:spPr>
        <p:txBody>
          <a:bodyPr lIns="0" tIns="0" rIns="0" bIns="0" rtlCol="0" anchor="t">
            <a:spAutoFit/>
          </a:bodyPr>
          <a:lstStyle/>
          <a:p>
            <a:pPr algn="ctr">
              <a:lnSpc>
                <a:spcPts val="12319"/>
              </a:lnSpc>
            </a:pPr>
            <a:r>
              <a:rPr lang="en-US" sz="8799">
                <a:solidFill>
                  <a:srgbClr val="292961"/>
                </a:solidFill>
                <a:latin typeface="Cinzel Decorative"/>
                <a:ea typeface="Cinzel Decorative"/>
                <a:cs typeface="Cinzel Decorative"/>
                <a:sym typeface="Cinzel Decorative"/>
              </a:rPr>
              <a:t>BB’S STORE Seasonal Report</a:t>
            </a:r>
          </a:p>
        </p:txBody>
      </p:sp>
      <p:sp>
        <p:nvSpPr>
          <p:cNvPr id="3" name="Freeform 3"/>
          <p:cNvSpPr/>
          <p:nvPr/>
        </p:nvSpPr>
        <p:spPr>
          <a:xfrm>
            <a:off x="7879397" y="5832210"/>
            <a:ext cx="1689100" cy="1523261"/>
          </a:xfrm>
          <a:custGeom>
            <a:avLst/>
            <a:gdLst/>
            <a:ahLst/>
            <a:cxnLst/>
            <a:rect l="l" t="t" r="r" b="b"/>
            <a:pathLst>
              <a:path w="1689100" h="1523261">
                <a:moveTo>
                  <a:pt x="0" y="0"/>
                </a:moveTo>
                <a:lnTo>
                  <a:pt x="1689100" y="0"/>
                </a:lnTo>
                <a:lnTo>
                  <a:pt x="1689100" y="1523261"/>
                </a:lnTo>
                <a:lnTo>
                  <a:pt x="0" y="15232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7219042" y="8202406"/>
            <a:ext cx="10488062" cy="455295"/>
          </a:xfrm>
          <a:prstGeom prst="rect">
            <a:avLst/>
          </a:prstGeom>
        </p:spPr>
        <p:txBody>
          <a:bodyPr lIns="0" tIns="0" rIns="0" bIns="0" rtlCol="0" anchor="t">
            <a:spAutoFit/>
          </a:bodyPr>
          <a:lstStyle/>
          <a:p>
            <a:pPr algn="ctr">
              <a:lnSpc>
                <a:spcPts val="3780"/>
              </a:lnSpc>
            </a:pPr>
            <a:r>
              <a:rPr lang="en-US" sz="2700">
                <a:solidFill>
                  <a:srgbClr val="292961"/>
                </a:solidFill>
                <a:latin typeface="Open Sauce"/>
                <a:ea typeface="Open Sauce"/>
                <a:cs typeface="Open Sauce"/>
                <a:sym typeface="Open Sauce"/>
              </a:rPr>
              <a:t>SALES PERFROMANCE ANALYSIS &amp; DEVELOPMENT SOLUTION</a:t>
            </a:r>
          </a:p>
        </p:txBody>
      </p:sp>
      <p:grpSp>
        <p:nvGrpSpPr>
          <p:cNvPr id="5" name="Group 5"/>
          <p:cNvGrpSpPr/>
          <p:nvPr/>
        </p:nvGrpSpPr>
        <p:grpSpPr>
          <a:xfrm rot="-10800000">
            <a:off x="0" y="0"/>
            <a:ext cx="6137275" cy="10287000"/>
            <a:chOff x="0" y="0"/>
            <a:chExt cx="1616402" cy="2709333"/>
          </a:xfrm>
        </p:grpSpPr>
        <p:sp>
          <p:nvSpPr>
            <p:cNvPr id="6" name="Freeform 6"/>
            <p:cNvSpPr/>
            <p:nvPr/>
          </p:nvSpPr>
          <p:spPr>
            <a:xfrm>
              <a:off x="0" y="0"/>
              <a:ext cx="1616402" cy="2709333"/>
            </a:xfrm>
            <a:custGeom>
              <a:avLst/>
              <a:gdLst/>
              <a:ahLst/>
              <a:cxnLst/>
              <a:rect l="l" t="t" r="r" b="b"/>
              <a:pathLst>
                <a:path w="1616402" h="2709333">
                  <a:moveTo>
                    <a:pt x="0" y="0"/>
                  </a:moveTo>
                  <a:lnTo>
                    <a:pt x="1616402" y="0"/>
                  </a:lnTo>
                  <a:lnTo>
                    <a:pt x="1616402" y="2709333"/>
                  </a:lnTo>
                  <a:lnTo>
                    <a:pt x="0" y="2709333"/>
                  </a:lnTo>
                  <a:close/>
                </a:path>
              </a:pathLst>
            </a:custGeom>
            <a:solidFill>
              <a:srgbClr val="292961"/>
            </a:solidFill>
          </p:spPr>
          <p:txBody>
            <a:bodyPr/>
            <a:lstStyle/>
            <a:p>
              <a:endParaRPr lang="en-US"/>
            </a:p>
          </p:txBody>
        </p:sp>
        <p:sp>
          <p:nvSpPr>
            <p:cNvPr id="7" name="TextBox 7"/>
            <p:cNvSpPr txBox="1"/>
            <p:nvPr/>
          </p:nvSpPr>
          <p:spPr>
            <a:xfrm>
              <a:off x="0" y="-38100"/>
              <a:ext cx="1616402" cy="274743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0" y="-19513"/>
            <a:ext cx="5153257" cy="10306513"/>
            <a:chOff x="0" y="0"/>
            <a:chExt cx="3331210" cy="6662420"/>
          </a:xfrm>
        </p:grpSpPr>
        <p:sp>
          <p:nvSpPr>
            <p:cNvPr id="9" name="Freeform 9"/>
            <p:cNvSpPr/>
            <p:nvPr/>
          </p:nvSpPr>
          <p:spPr>
            <a:xfrm>
              <a:off x="0" y="0"/>
              <a:ext cx="3331210" cy="6662420"/>
            </a:xfrm>
            <a:custGeom>
              <a:avLst/>
              <a:gdLst/>
              <a:ahLst/>
              <a:cxnLst/>
              <a:rect l="l" t="t" r="r" b="b"/>
              <a:pathLst>
                <a:path w="3331210" h="6662420">
                  <a:moveTo>
                    <a:pt x="0" y="3331210"/>
                  </a:moveTo>
                  <a:lnTo>
                    <a:pt x="0" y="0"/>
                  </a:lnTo>
                  <a:cubicBezTo>
                    <a:pt x="1840230" y="0"/>
                    <a:pt x="3331210" y="1490980"/>
                    <a:pt x="3331210" y="3331210"/>
                  </a:cubicBezTo>
                  <a:cubicBezTo>
                    <a:pt x="3331210" y="5171440"/>
                    <a:pt x="1840230" y="6662420"/>
                    <a:pt x="0" y="6662420"/>
                  </a:cubicBezTo>
                  <a:lnTo>
                    <a:pt x="0" y="3331210"/>
                  </a:lnTo>
                  <a:close/>
                </a:path>
              </a:pathLst>
            </a:custGeom>
            <a:blipFill>
              <a:blip r:embed="rId4"/>
              <a:stretch>
                <a:fillRect l="-16727" r="-16727"/>
              </a:stretch>
            </a:blipFill>
          </p:spPr>
          <p:txBody>
            <a:bodyPr/>
            <a:lstStyle/>
            <a:p>
              <a:endParaRPr lang="en-US"/>
            </a:p>
          </p:txBody>
        </p:sp>
      </p:grpSp>
      <p:sp>
        <p:nvSpPr>
          <p:cNvPr id="10" name="TextBox 10"/>
          <p:cNvSpPr txBox="1"/>
          <p:nvPr/>
        </p:nvSpPr>
        <p:spPr>
          <a:xfrm rot="-5400000">
            <a:off x="3104316" y="4968876"/>
            <a:ext cx="4923510" cy="349250"/>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F3F2F0"/>
                </a:solidFill>
                <a:latin typeface="Open Sauce"/>
                <a:ea typeface="Open Sauce"/>
                <a:cs typeface="Open Sauce"/>
                <a:sym typeface="Open Sauce"/>
              </a:rPr>
              <a:t>Presented by Tien Le</a:t>
            </a:r>
          </a:p>
        </p:txBody>
      </p:sp>
      <p:sp>
        <p:nvSpPr>
          <p:cNvPr id="11" name="Freeform 11"/>
          <p:cNvSpPr/>
          <p:nvPr/>
        </p:nvSpPr>
        <p:spPr>
          <a:xfrm>
            <a:off x="15367000" y="3580925"/>
            <a:ext cx="1568755" cy="1563051"/>
          </a:xfrm>
          <a:custGeom>
            <a:avLst/>
            <a:gdLst/>
            <a:ahLst/>
            <a:cxnLst/>
            <a:rect l="l" t="t" r="r" b="b"/>
            <a:pathLst>
              <a:path w="1568755" h="1563051">
                <a:moveTo>
                  <a:pt x="0" y="0"/>
                </a:moveTo>
                <a:lnTo>
                  <a:pt x="1568755" y="0"/>
                </a:lnTo>
                <a:lnTo>
                  <a:pt x="1568755" y="1563050"/>
                </a:lnTo>
                <a:lnTo>
                  <a:pt x="0" y="15630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92961"/>
        </a:solidFill>
        <a:effectLst/>
      </p:bgPr>
    </p:bg>
    <p:spTree>
      <p:nvGrpSpPr>
        <p:cNvPr id="1" name=""/>
        <p:cNvGrpSpPr/>
        <p:nvPr/>
      </p:nvGrpSpPr>
      <p:grpSpPr>
        <a:xfrm>
          <a:off x="0" y="0"/>
          <a:ext cx="0" cy="0"/>
          <a:chOff x="0" y="0"/>
          <a:chExt cx="0" cy="0"/>
        </a:xfrm>
      </p:grpSpPr>
      <p:grpSp>
        <p:nvGrpSpPr>
          <p:cNvPr id="2" name="Group 2"/>
          <p:cNvGrpSpPr/>
          <p:nvPr/>
        </p:nvGrpSpPr>
        <p:grpSpPr>
          <a:xfrm>
            <a:off x="0" y="2100303"/>
            <a:ext cx="18288000" cy="8186697"/>
            <a:chOff x="0" y="0"/>
            <a:chExt cx="4816593" cy="2156167"/>
          </a:xfrm>
        </p:grpSpPr>
        <p:sp>
          <p:nvSpPr>
            <p:cNvPr id="3" name="Freeform 3"/>
            <p:cNvSpPr/>
            <p:nvPr/>
          </p:nvSpPr>
          <p:spPr>
            <a:xfrm>
              <a:off x="0" y="0"/>
              <a:ext cx="4816592" cy="2156167"/>
            </a:xfrm>
            <a:custGeom>
              <a:avLst/>
              <a:gdLst/>
              <a:ahLst/>
              <a:cxnLst/>
              <a:rect l="l" t="t" r="r" b="b"/>
              <a:pathLst>
                <a:path w="4816592" h="2156167">
                  <a:moveTo>
                    <a:pt x="0" y="0"/>
                  </a:moveTo>
                  <a:lnTo>
                    <a:pt x="4816592" y="0"/>
                  </a:lnTo>
                  <a:lnTo>
                    <a:pt x="4816592" y="2156167"/>
                  </a:lnTo>
                  <a:lnTo>
                    <a:pt x="0" y="2156167"/>
                  </a:lnTo>
                  <a:close/>
                </a:path>
              </a:pathLst>
            </a:custGeom>
            <a:solidFill>
              <a:srgbClr val="F3F2F0"/>
            </a:solidFill>
          </p:spPr>
          <p:txBody>
            <a:bodyPr/>
            <a:lstStyle/>
            <a:p>
              <a:endParaRPr lang="en-US"/>
            </a:p>
          </p:txBody>
        </p:sp>
        <p:sp>
          <p:nvSpPr>
            <p:cNvPr id="4" name="TextBox 4"/>
            <p:cNvSpPr txBox="1"/>
            <p:nvPr/>
          </p:nvSpPr>
          <p:spPr>
            <a:xfrm>
              <a:off x="0" y="-38100"/>
              <a:ext cx="4816593" cy="2194267"/>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3714477" y="2519642"/>
            <a:ext cx="5132419" cy="523875"/>
          </a:xfrm>
          <a:prstGeom prst="rect">
            <a:avLst/>
          </a:prstGeom>
        </p:spPr>
        <p:txBody>
          <a:bodyPr lIns="0" tIns="0" rIns="0" bIns="0" rtlCol="0" anchor="t">
            <a:spAutoFit/>
          </a:bodyPr>
          <a:lstStyle/>
          <a:p>
            <a:pPr algn="l">
              <a:lnSpc>
                <a:spcPts val="4200"/>
              </a:lnSpc>
            </a:pPr>
            <a:r>
              <a:rPr lang="en-US" sz="3000" b="1">
                <a:solidFill>
                  <a:srgbClr val="292961"/>
                </a:solidFill>
                <a:latin typeface="Open Sauce Bold"/>
                <a:ea typeface="Open Sauce Bold"/>
                <a:cs typeface="Open Sauce Bold"/>
                <a:sym typeface="Open Sauce Bold"/>
              </a:rPr>
              <a:t>OBJECTIVE</a:t>
            </a:r>
          </a:p>
        </p:txBody>
      </p:sp>
      <p:sp>
        <p:nvSpPr>
          <p:cNvPr id="6" name="TextBox 6"/>
          <p:cNvSpPr txBox="1"/>
          <p:nvPr/>
        </p:nvSpPr>
        <p:spPr>
          <a:xfrm>
            <a:off x="3580591" y="3262592"/>
            <a:ext cx="9464668" cy="1153795"/>
          </a:xfrm>
          <a:prstGeom prst="rect">
            <a:avLst/>
          </a:prstGeom>
        </p:spPr>
        <p:txBody>
          <a:bodyPr lIns="0" tIns="0" rIns="0" bIns="0" rtlCol="0" anchor="t">
            <a:spAutoFit/>
          </a:bodyPr>
          <a:lstStyle/>
          <a:p>
            <a:pPr marL="474979" lvl="1" indent="-237490" algn="l">
              <a:lnSpc>
                <a:spcPts val="3079"/>
              </a:lnSpc>
              <a:buFont typeface="Arial"/>
              <a:buChar char="•"/>
            </a:pPr>
            <a:r>
              <a:rPr lang="en-US" sz="2199">
                <a:solidFill>
                  <a:srgbClr val="292961"/>
                </a:solidFill>
                <a:latin typeface="Open Sauce"/>
                <a:ea typeface="Open Sauce"/>
                <a:cs typeface="Open Sauce"/>
                <a:sym typeface="Open Sauce"/>
              </a:rPr>
              <a:t>Analyse sales performance </a:t>
            </a:r>
          </a:p>
          <a:p>
            <a:pPr marL="474979" lvl="1" indent="-237490" algn="l">
              <a:lnSpc>
                <a:spcPts val="3079"/>
              </a:lnSpc>
              <a:buFont typeface="Arial"/>
              <a:buChar char="•"/>
            </a:pPr>
            <a:r>
              <a:rPr lang="en-US" sz="2199">
                <a:solidFill>
                  <a:srgbClr val="292961"/>
                </a:solidFill>
                <a:latin typeface="Open Sauce"/>
                <a:ea typeface="Open Sauce"/>
                <a:cs typeface="Open Sauce"/>
                <a:sym typeface="Open Sauce"/>
              </a:rPr>
              <a:t>Address the existing problems and causes</a:t>
            </a:r>
          </a:p>
          <a:p>
            <a:pPr marL="474979" lvl="1" indent="-237490" algn="l">
              <a:lnSpc>
                <a:spcPts val="3079"/>
              </a:lnSpc>
              <a:buFont typeface="Arial"/>
              <a:buChar char="•"/>
            </a:pPr>
            <a:r>
              <a:rPr lang="en-US" sz="2199">
                <a:solidFill>
                  <a:srgbClr val="292961"/>
                </a:solidFill>
                <a:latin typeface="Open Sauce"/>
                <a:ea typeface="Open Sauce"/>
                <a:cs typeface="Open Sauce"/>
                <a:sym typeface="Open Sauce"/>
              </a:rPr>
              <a:t>Develop strategies to tackle those problems</a:t>
            </a:r>
          </a:p>
        </p:txBody>
      </p:sp>
      <p:sp>
        <p:nvSpPr>
          <p:cNvPr id="7" name="TextBox 7"/>
          <p:cNvSpPr txBox="1"/>
          <p:nvPr/>
        </p:nvSpPr>
        <p:spPr>
          <a:xfrm>
            <a:off x="4097957" y="419417"/>
            <a:ext cx="10244487" cy="1094740"/>
          </a:xfrm>
          <a:prstGeom prst="rect">
            <a:avLst/>
          </a:prstGeom>
        </p:spPr>
        <p:txBody>
          <a:bodyPr lIns="0" tIns="0" rIns="0" bIns="0" rtlCol="0" anchor="t">
            <a:spAutoFit/>
          </a:bodyPr>
          <a:lstStyle/>
          <a:p>
            <a:pPr marL="0" lvl="0" indent="0" algn="l">
              <a:lnSpc>
                <a:spcPts val="8959"/>
              </a:lnSpc>
              <a:spcBef>
                <a:spcPct val="0"/>
              </a:spcBef>
            </a:pPr>
            <a:r>
              <a:rPr lang="en-US" sz="6399" b="1">
                <a:solidFill>
                  <a:srgbClr val="F3F2F0"/>
                </a:solidFill>
                <a:latin typeface="Cinzel Decorative Bold"/>
                <a:ea typeface="Cinzel Decorative Bold"/>
                <a:cs typeface="Cinzel Decorative Bold"/>
                <a:sym typeface="Cinzel Decorative Bold"/>
              </a:rPr>
              <a:t>EXECUTIVE SUMMARY</a:t>
            </a:r>
          </a:p>
        </p:txBody>
      </p:sp>
      <p:sp>
        <p:nvSpPr>
          <p:cNvPr id="8" name="TextBox 8"/>
          <p:cNvSpPr txBox="1"/>
          <p:nvPr/>
        </p:nvSpPr>
        <p:spPr>
          <a:xfrm>
            <a:off x="1536700" y="2691409"/>
            <a:ext cx="1064159" cy="1184275"/>
          </a:xfrm>
          <a:prstGeom prst="rect">
            <a:avLst/>
          </a:prstGeom>
        </p:spPr>
        <p:txBody>
          <a:bodyPr lIns="0" tIns="0" rIns="0" bIns="0" rtlCol="0" anchor="t">
            <a:spAutoFit/>
          </a:bodyPr>
          <a:lstStyle/>
          <a:p>
            <a:pPr marL="0" lvl="0" indent="0" algn="ctr">
              <a:lnSpc>
                <a:spcPts val="9799"/>
              </a:lnSpc>
              <a:spcBef>
                <a:spcPct val="0"/>
              </a:spcBef>
            </a:pPr>
            <a:r>
              <a:rPr lang="en-US" sz="6999">
                <a:solidFill>
                  <a:srgbClr val="292961"/>
                </a:solidFill>
                <a:latin typeface="Cinzel Decorative"/>
                <a:ea typeface="Cinzel Decorative"/>
                <a:cs typeface="Cinzel Decorative"/>
                <a:sym typeface="Cinzel Decorative"/>
              </a:rPr>
              <a:t>01</a:t>
            </a:r>
          </a:p>
        </p:txBody>
      </p:sp>
      <p:sp>
        <p:nvSpPr>
          <p:cNvPr id="9" name="TextBox 9"/>
          <p:cNvSpPr txBox="1"/>
          <p:nvPr/>
        </p:nvSpPr>
        <p:spPr>
          <a:xfrm>
            <a:off x="1384300" y="5062717"/>
            <a:ext cx="1384300" cy="1184275"/>
          </a:xfrm>
          <a:prstGeom prst="rect">
            <a:avLst/>
          </a:prstGeom>
        </p:spPr>
        <p:txBody>
          <a:bodyPr lIns="0" tIns="0" rIns="0" bIns="0" rtlCol="0" anchor="t">
            <a:spAutoFit/>
          </a:bodyPr>
          <a:lstStyle/>
          <a:p>
            <a:pPr marL="0" lvl="0" indent="0" algn="ctr">
              <a:lnSpc>
                <a:spcPts val="9799"/>
              </a:lnSpc>
              <a:spcBef>
                <a:spcPct val="0"/>
              </a:spcBef>
            </a:pPr>
            <a:r>
              <a:rPr lang="en-US" sz="6999">
                <a:solidFill>
                  <a:srgbClr val="292961"/>
                </a:solidFill>
                <a:latin typeface="Cinzel Decorative"/>
                <a:ea typeface="Cinzel Decorative"/>
                <a:cs typeface="Cinzel Decorative"/>
                <a:sym typeface="Cinzel Decorative"/>
              </a:rPr>
              <a:t>02</a:t>
            </a:r>
          </a:p>
        </p:txBody>
      </p:sp>
      <p:sp>
        <p:nvSpPr>
          <p:cNvPr id="10" name="TextBox 10"/>
          <p:cNvSpPr txBox="1"/>
          <p:nvPr/>
        </p:nvSpPr>
        <p:spPr>
          <a:xfrm>
            <a:off x="1536700" y="7434024"/>
            <a:ext cx="1064159" cy="1184275"/>
          </a:xfrm>
          <a:prstGeom prst="rect">
            <a:avLst/>
          </a:prstGeom>
        </p:spPr>
        <p:txBody>
          <a:bodyPr lIns="0" tIns="0" rIns="0" bIns="0" rtlCol="0" anchor="t">
            <a:spAutoFit/>
          </a:bodyPr>
          <a:lstStyle/>
          <a:p>
            <a:pPr marL="0" lvl="0" indent="0" algn="ctr">
              <a:lnSpc>
                <a:spcPts val="9799"/>
              </a:lnSpc>
              <a:spcBef>
                <a:spcPct val="0"/>
              </a:spcBef>
            </a:pPr>
            <a:r>
              <a:rPr lang="en-US" sz="6999">
                <a:solidFill>
                  <a:srgbClr val="292961"/>
                </a:solidFill>
                <a:latin typeface="Cinzel Decorative"/>
                <a:ea typeface="Cinzel Decorative"/>
                <a:cs typeface="Cinzel Decorative"/>
                <a:sym typeface="Cinzel Decorative"/>
              </a:rPr>
              <a:t>03</a:t>
            </a:r>
          </a:p>
        </p:txBody>
      </p:sp>
      <p:sp>
        <p:nvSpPr>
          <p:cNvPr id="11" name="TextBox 11"/>
          <p:cNvSpPr txBox="1"/>
          <p:nvPr/>
        </p:nvSpPr>
        <p:spPr>
          <a:xfrm>
            <a:off x="3714477" y="5076825"/>
            <a:ext cx="5132419" cy="523875"/>
          </a:xfrm>
          <a:prstGeom prst="rect">
            <a:avLst/>
          </a:prstGeom>
        </p:spPr>
        <p:txBody>
          <a:bodyPr lIns="0" tIns="0" rIns="0" bIns="0" rtlCol="0" anchor="t">
            <a:spAutoFit/>
          </a:bodyPr>
          <a:lstStyle/>
          <a:p>
            <a:pPr algn="l">
              <a:lnSpc>
                <a:spcPts val="4200"/>
              </a:lnSpc>
            </a:pPr>
            <a:r>
              <a:rPr lang="en-US" sz="3000" b="1">
                <a:solidFill>
                  <a:srgbClr val="292961"/>
                </a:solidFill>
                <a:latin typeface="Open Sauce Bold"/>
                <a:ea typeface="Open Sauce Bold"/>
                <a:cs typeface="Open Sauce Bold"/>
                <a:sym typeface="Open Sauce Bold"/>
              </a:rPr>
              <a:t>PROBLEM</a:t>
            </a:r>
          </a:p>
        </p:txBody>
      </p:sp>
      <p:sp>
        <p:nvSpPr>
          <p:cNvPr id="12" name="TextBox 12"/>
          <p:cNvSpPr txBox="1"/>
          <p:nvPr/>
        </p:nvSpPr>
        <p:spPr>
          <a:xfrm>
            <a:off x="3714477" y="7694176"/>
            <a:ext cx="5132419" cy="523875"/>
          </a:xfrm>
          <a:prstGeom prst="rect">
            <a:avLst/>
          </a:prstGeom>
        </p:spPr>
        <p:txBody>
          <a:bodyPr lIns="0" tIns="0" rIns="0" bIns="0" rtlCol="0" anchor="t">
            <a:spAutoFit/>
          </a:bodyPr>
          <a:lstStyle/>
          <a:p>
            <a:pPr algn="l">
              <a:lnSpc>
                <a:spcPts val="4200"/>
              </a:lnSpc>
            </a:pPr>
            <a:r>
              <a:rPr lang="en-US" sz="3000" b="1">
                <a:solidFill>
                  <a:srgbClr val="292961"/>
                </a:solidFill>
                <a:latin typeface="Open Sauce Bold"/>
                <a:ea typeface="Open Sauce Bold"/>
                <a:cs typeface="Open Sauce Bold"/>
                <a:sym typeface="Open Sauce Bold"/>
              </a:rPr>
              <a:t>RECOMMENDATION</a:t>
            </a:r>
          </a:p>
        </p:txBody>
      </p:sp>
      <p:sp>
        <p:nvSpPr>
          <p:cNvPr id="13" name="TextBox 13"/>
          <p:cNvSpPr txBox="1"/>
          <p:nvPr/>
        </p:nvSpPr>
        <p:spPr>
          <a:xfrm>
            <a:off x="3580591" y="5819775"/>
            <a:ext cx="12588676" cy="1153795"/>
          </a:xfrm>
          <a:prstGeom prst="rect">
            <a:avLst/>
          </a:prstGeom>
        </p:spPr>
        <p:txBody>
          <a:bodyPr lIns="0" tIns="0" rIns="0" bIns="0" rtlCol="0" anchor="t">
            <a:spAutoFit/>
          </a:bodyPr>
          <a:lstStyle/>
          <a:p>
            <a:pPr marL="474979" lvl="1" indent="-237490" algn="l">
              <a:lnSpc>
                <a:spcPts val="3079"/>
              </a:lnSpc>
              <a:buFont typeface="Arial"/>
              <a:buChar char="•"/>
            </a:pPr>
            <a:r>
              <a:rPr lang="en-US" sz="2199" dirty="0">
                <a:solidFill>
                  <a:srgbClr val="292961"/>
                </a:solidFill>
                <a:latin typeface="Open Sauce"/>
                <a:ea typeface="Open Sauce"/>
                <a:cs typeface="Open Sauce"/>
                <a:sym typeface="Open Sauce"/>
              </a:rPr>
              <a:t>Revenue is dominated by certain factors</a:t>
            </a:r>
          </a:p>
          <a:p>
            <a:pPr marL="474979" lvl="1" indent="-237490" algn="l">
              <a:lnSpc>
                <a:spcPts val="3079"/>
              </a:lnSpc>
              <a:buFont typeface="Arial"/>
              <a:buChar char="•"/>
            </a:pPr>
            <a:r>
              <a:rPr lang="en-US" sz="2199" dirty="0">
                <a:solidFill>
                  <a:srgbClr val="292961"/>
                </a:solidFill>
                <a:latin typeface="Open Sauce"/>
                <a:ea typeface="Open Sauce"/>
                <a:cs typeface="Open Sauce"/>
                <a:sym typeface="Open Sauce"/>
              </a:rPr>
              <a:t>Increased traffic and conversion rates failed to drive more purchases or revenue</a:t>
            </a:r>
          </a:p>
          <a:p>
            <a:pPr marL="474979" lvl="1" indent="-237490" algn="l">
              <a:lnSpc>
                <a:spcPts val="3079"/>
              </a:lnSpc>
              <a:buFont typeface="Arial"/>
              <a:buChar char="•"/>
            </a:pPr>
            <a:r>
              <a:rPr lang="en-US" sz="2199" dirty="0">
                <a:solidFill>
                  <a:srgbClr val="292961"/>
                </a:solidFill>
                <a:latin typeface="Open Sauce"/>
                <a:ea typeface="Open Sauce"/>
                <a:cs typeface="Open Sauce"/>
                <a:sym typeface="Open Sauce"/>
              </a:rPr>
              <a:t>Weak upsell capability</a:t>
            </a:r>
          </a:p>
        </p:txBody>
      </p:sp>
      <p:sp>
        <p:nvSpPr>
          <p:cNvPr id="14" name="AutoShape 14"/>
          <p:cNvSpPr/>
          <p:nvPr/>
        </p:nvSpPr>
        <p:spPr>
          <a:xfrm flipV="1">
            <a:off x="3714477" y="4779943"/>
            <a:ext cx="11853887" cy="0"/>
          </a:xfrm>
          <a:prstGeom prst="line">
            <a:avLst/>
          </a:prstGeom>
          <a:ln w="28575" cap="flat">
            <a:solidFill>
              <a:srgbClr val="292961"/>
            </a:solidFill>
            <a:prstDash val="solid"/>
            <a:headEnd type="none" w="sm" len="sm"/>
            <a:tailEnd type="none" w="sm" len="sm"/>
          </a:ln>
        </p:spPr>
        <p:txBody>
          <a:bodyPr/>
          <a:lstStyle/>
          <a:p>
            <a:endParaRPr lang="en-US"/>
          </a:p>
        </p:txBody>
      </p:sp>
      <p:sp>
        <p:nvSpPr>
          <p:cNvPr id="15" name="AutoShape 15"/>
          <p:cNvSpPr/>
          <p:nvPr/>
        </p:nvSpPr>
        <p:spPr>
          <a:xfrm>
            <a:off x="3714477" y="7394138"/>
            <a:ext cx="11853887" cy="0"/>
          </a:xfrm>
          <a:prstGeom prst="line">
            <a:avLst/>
          </a:prstGeom>
          <a:ln w="28575" cap="flat">
            <a:solidFill>
              <a:srgbClr val="292961"/>
            </a:solidFill>
            <a:prstDash val="solid"/>
            <a:headEnd type="none" w="sm" len="sm"/>
            <a:tailEnd type="none" w="sm" len="sm"/>
          </a:ln>
        </p:spPr>
        <p:txBody>
          <a:bodyPr/>
          <a:lstStyle/>
          <a:p>
            <a:endParaRPr lang="en-US"/>
          </a:p>
        </p:txBody>
      </p:sp>
      <p:sp>
        <p:nvSpPr>
          <p:cNvPr id="16" name="TextBox 13">
            <a:extLst>
              <a:ext uri="{FF2B5EF4-FFF2-40B4-BE49-F238E27FC236}">
                <a16:creationId xmlns:a16="http://schemas.microsoft.com/office/drawing/2014/main" id="{B972977C-3915-93EC-33D1-EDEE815B00DC}"/>
              </a:ext>
            </a:extLst>
          </p:cNvPr>
          <p:cNvSpPr txBox="1"/>
          <p:nvPr/>
        </p:nvSpPr>
        <p:spPr>
          <a:xfrm>
            <a:off x="3580591" y="8356639"/>
            <a:ext cx="12588676" cy="1158074"/>
          </a:xfrm>
          <a:prstGeom prst="rect">
            <a:avLst/>
          </a:prstGeom>
        </p:spPr>
        <p:txBody>
          <a:bodyPr lIns="0" tIns="0" rIns="0" bIns="0" rtlCol="0" anchor="t">
            <a:spAutoFit/>
          </a:bodyPr>
          <a:lstStyle/>
          <a:p>
            <a:pPr marL="474979" lvl="1" indent="-237490" algn="l">
              <a:lnSpc>
                <a:spcPts val="3079"/>
              </a:lnSpc>
              <a:buFont typeface="Arial"/>
              <a:buChar char="•"/>
            </a:pPr>
            <a:r>
              <a:rPr lang="en-US" sz="2199" dirty="0">
                <a:solidFill>
                  <a:srgbClr val="292961"/>
                </a:solidFill>
                <a:latin typeface="Open Sauce"/>
                <a:ea typeface="Open Sauce"/>
                <a:cs typeface="Open Sauce"/>
                <a:sym typeface="Open Sauce"/>
              </a:rPr>
              <a:t>Diversify revenue sources</a:t>
            </a:r>
          </a:p>
          <a:p>
            <a:pPr marL="474979" lvl="1" indent="-237490" algn="l">
              <a:lnSpc>
                <a:spcPts val="3079"/>
              </a:lnSpc>
              <a:buFont typeface="Arial"/>
              <a:buChar char="•"/>
            </a:pPr>
            <a:r>
              <a:rPr lang="en-US" sz="2199" dirty="0">
                <a:solidFill>
                  <a:srgbClr val="292961"/>
                </a:solidFill>
                <a:latin typeface="Open Sauce"/>
                <a:ea typeface="Open Sauce"/>
                <a:cs typeface="Open Sauce"/>
                <a:sym typeface="Open Sauce"/>
              </a:rPr>
              <a:t>Utilize golden hours for shopping</a:t>
            </a:r>
          </a:p>
          <a:p>
            <a:pPr marL="474979" lvl="1" indent="-237490" algn="l">
              <a:lnSpc>
                <a:spcPts val="3079"/>
              </a:lnSpc>
              <a:buFont typeface="Arial"/>
              <a:buChar char="•"/>
            </a:pPr>
            <a:r>
              <a:rPr lang="en-US" sz="2199" dirty="0">
                <a:solidFill>
                  <a:srgbClr val="292961"/>
                </a:solidFill>
                <a:latin typeface="Open Sauce"/>
                <a:ea typeface="Open Sauce"/>
                <a:cs typeface="Open Sauce"/>
                <a:sym typeface="Open Sauce"/>
              </a:rPr>
              <a:t> Boost upsell potential capability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92961"/>
        </a:solidFill>
        <a:effectLst/>
      </p:bgPr>
    </p:bg>
    <p:spTree>
      <p:nvGrpSpPr>
        <p:cNvPr id="1" name=""/>
        <p:cNvGrpSpPr/>
        <p:nvPr/>
      </p:nvGrpSpPr>
      <p:grpSpPr>
        <a:xfrm>
          <a:off x="0" y="0"/>
          <a:ext cx="0" cy="0"/>
          <a:chOff x="0" y="0"/>
          <a:chExt cx="0" cy="0"/>
        </a:xfrm>
      </p:grpSpPr>
      <p:grpSp>
        <p:nvGrpSpPr>
          <p:cNvPr id="2" name="Group 2"/>
          <p:cNvGrpSpPr/>
          <p:nvPr/>
        </p:nvGrpSpPr>
        <p:grpSpPr>
          <a:xfrm>
            <a:off x="1536700" y="981710"/>
            <a:ext cx="3519783" cy="4161790"/>
            <a:chOff x="0" y="0"/>
            <a:chExt cx="676004" cy="799306"/>
          </a:xfrm>
        </p:grpSpPr>
        <p:sp>
          <p:nvSpPr>
            <p:cNvPr id="3" name="Freeform 3"/>
            <p:cNvSpPr/>
            <p:nvPr/>
          </p:nvSpPr>
          <p:spPr>
            <a:xfrm>
              <a:off x="0" y="0"/>
              <a:ext cx="676004" cy="799306"/>
            </a:xfrm>
            <a:custGeom>
              <a:avLst/>
              <a:gdLst/>
              <a:ahLst/>
              <a:cxnLst/>
              <a:rect l="l" t="t" r="r" b="b"/>
              <a:pathLst>
                <a:path w="676004" h="799306">
                  <a:moveTo>
                    <a:pt x="0" y="0"/>
                  </a:moveTo>
                  <a:lnTo>
                    <a:pt x="676004" y="0"/>
                  </a:lnTo>
                  <a:lnTo>
                    <a:pt x="676004" y="799306"/>
                  </a:lnTo>
                  <a:lnTo>
                    <a:pt x="0" y="799306"/>
                  </a:lnTo>
                  <a:close/>
                </a:path>
              </a:pathLst>
            </a:custGeom>
            <a:blipFill>
              <a:blip r:embed="rId2"/>
              <a:stretch>
                <a:fillRect l="-94149" r="-114385" b="-1688"/>
              </a:stretch>
            </a:blipFill>
          </p:spPr>
          <p:txBody>
            <a:bodyPr/>
            <a:lstStyle/>
            <a:p>
              <a:endParaRPr lang="en-US"/>
            </a:p>
          </p:txBody>
        </p:sp>
      </p:grpSp>
      <p:grpSp>
        <p:nvGrpSpPr>
          <p:cNvPr id="4" name="Group 4"/>
          <p:cNvGrpSpPr/>
          <p:nvPr/>
        </p:nvGrpSpPr>
        <p:grpSpPr>
          <a:xfrm>
            <a:off x="6146800" y="981710"/>
            <a:ext cx="3519783" cy="4161790"/>
            <a:chOff x="0" y="0"/>
            <a:chExt cx="676004" cy="799306"/>
          </a:xfrm>
        </p:grpSpPr>
        <p:sp>
          <p:nvSpPr>
            <p:cNvPr id="5" name="Freeform 5"/>
            <p:cNvSpPr/>
            <p:nvPr/>
          </p:nvSpPr>
          <p:spPr>
            <a:xfrm>
              <a:off x="0" y="0"/>
              <a:ext cx="676004" cy="799306"/>
            </a:xfrm>
            <a:custGeom>
              <a:avLst/>
              <a:gdLst/>
              <a:ahLst/>
              <a:cxnLst/>
              <a:rect l="l" t="t" r="r" b="b"/>
              <a:pathLst>
                <a:path w="676004" h="799306">
                  <a:moveTo>
                    <a:pt x="0" y="0"/>
                  </a:moveTo>
                  <a:lnTo>
                    <a:pt x="676004" y="0"/>
                  </a:lnTo>
                  <a:lnTo>
                    <a:pt x="676004" y="799306"/>
                  </a:lnTo>
                  <a:lnTo>
                    <a:pt x="0" y="799306"/>
                  </a:lnTo>
                  <a:close/>
                </a:path>
              </a:pathLst>
            </a:custGeom>
            <a:blipFill>
              <a:blip r:embed="rId3"/>
              <a:stretch>
                <a:fillRect l="-9119" r="-9119"/>
              </a:stretch>
            </a:blipFill>
          </p:spPr>
          <p:txBody>
            <a:bodyPr/>
            <a:lstStyle/>
            <a:p>
              <a:endParaRPr lang="en-US"/>
            </a:p>
          </p:txBody>
        </p:sp>
      </p:grpSp>
      <p:grpSp>
        <p:nvGrpSpPr>
          <p:cNvPr id="6" name="Group 6"/>
          <p:cNvGrpSpPr/>
          <p:nvPr/>
        </p:nvGrpSpPr>
        <p:grpSpPr>
          <a:xfrm>
            <a:off x="1536700" y="981710"/>
            <a:ext cx="3519783" cy="4114800"/>
            <a:chOff x="0" y="0"/>
            <a:chExt cx="676004" cy="790281"/>
          </a:xfrm>
        </p:grpSpPr>
        <p:sp>
          <p:nvSpPr>
            <p:cNvPr id="7" name="Freeform 7"/>
            <p:cNvSpPr/>
            <p:nvPr/>
          </p:nvSpPr>
          <p:spPr>
            <a:xfrm>
              <a:off x="0" y="0"/>
              <a:ext cx="676004" cy="790281"/>
            </a:xfrm>
            <a:custGeom>
              <a:avLst/>
              <a:gdLst/>
              <a:ahLst/>
              <a:cxnLst/>
              <a:rect l="l" t="t" r="r" b="b"/>
              <a:pathLst>
                <a:path w="676004" h="790281">
                  <a:moveTo>
                    <a:pt x="0" y="0"/>
                  </a:moveTo>
                  <a:lnTo>
                    <a:pt x="676004" y="0"/>
                  </a:lnTo>
                  <a:lnTo>
                    <a:pt x="676004" y="790281"/>
                  </a:lnTo>
                  <a:lnTo>
                    <a:pt x="0" y="790281"/>
                  </a:lnTo>
                  <a:close/>
                </a:path>
              </a:pathLst>
            </a:custGeom>
            <a:blipFill>
              <a:blip r:embed="rId4"/>
              <a:stretch>
                <a:fillRect l="-19126" t="-37462" r="-22231" b="-43747"/>
              </a:stretch>
            </a:blipFill>
          </p:spPr>
          <p:txBody>
            <a:bodyPr/>
            <a:lstStyle/>
            <a:p>
              <a:endParaRPr lang="en-US"/>
            </a:p>
          </p:txBody>
        </p:sp>
      </p:grpSp>
      <p:sp>
        <p:nvSpPr>
          <p:cNvPr id="8" name="Freeform 8"/>
          <p:cNvSpPr/>
          <p:nvPr/>
        </p:nvSpPr>
        <p:spPr>
          <a:xfrm>
            <a:off x="7386713" y="5855652"/>
            <a:ext cx="1568755" cy="1563051"/>
          </a:xfrm>
          <a:custGeom>
            <a:avLst/>
            <a:gdLst/>
            <a:ahLst/>
            <a:cxnLst/>
            <a:rect l="l" t="t" r="r" b="b"/>
            <a:pathLst>
              <a:path w="1568755" h="1563051">
                <a:moveTo>
                  <a:pt x="0" y="0"/>
                </a:moveTo>
                <a:lnTo>
                  <a:pt x="1568755" y="0"/>
                </a:lnTo>
                <a:lnTo>
                  <a:pt x="1568755" y="1563051"/>
                </a:lnTo>
                <a:lnTo>
                  <a:pt x="0" y="15630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9" name="AutoShape 9"/>
          <p:cNvSpPr/>
          <p:nvPr/>
        </p:nvSpPr>
        <p:spPr>
          <a:xfrm>
            <a:off x="153670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sp>
        <p:nvSpPr>
          <p:cNvPr id="10" name="AutoShape 10"/>
          <p:cNvSpPr/>
          <p:nvPr/>
        </p:nvSpPr>
        <p:spPr>
          <a:xfrm>
            <a:off x="802894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sp>
        <p:nvSpPr>
          <p:cNvPr id="11" name="AutoShape 11"/>
          <p:cNvSpPr/>
          <p:nvPr/>
        </p:nvSpPr>
        <p:spPr>
          <a:xfrm>
            <a:off x="1076706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12" name="Group 12"/>
          <p:cNvGrpSpPr/>
          <p:nvPr/>
        </p:nvGrpSpPr>
        <p:grpSpPr>
          <a:xfrm>
            <a:off x="1536700" y="8925252"/>
            <a:ext cx="337802" cy="33780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1010"/>
            </a:solidFill>
          </p:spPr>
          <p:txBody>
            <a:bodyPr/>
            <a:lstStyle/>
            <a:p>
              <a:endParaRPr lang="en-US"/>
            </a:p>
          </p:txBody>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1536700" y="5712777"/>
            <a:ext cx="5160595" cy="2600326"/>
          </a:xfrm>
          <a:prstGeom prst="rect">
            <a:avLst/>
          </a:prstGeom>
        </p:spPr>
        <p:txBody>
          <a:bodyPr lIns="0" tIns="0" rIns="0" bIns="0" rtlCol="0" anchor="t">
            <a:spAutoFit/>
          </a:bodyPr>
          <a:lstStyle/>
          <a:p>
            <a:pPr marL="0" lvl="0" indent="0" algn="l">
              <a:lnSpc>
                <a:spcPts val="10499"/>
              </a:lnSpc>
              <a:spcBef>
                <a:spcPct val="0"/>
              </a:spcBef>
            </a:pPr>
            <a:r>
              <a:rPr lang="en-US" sz="7499">
                <a:solidFill>
                  <a:srgbClr val="F3F2F0"/>
                </a:solidFill>
                <a:latin typeface="Cinzel Decorative"/>
                <a:ea typeface="Cinzel Decorative"/>
                <a:cs typeface="Cinzel Decorative"/>
                <a:sym typeface="Cinzel Decorative"/>
              </a:rPr>
              <a:t>about bb’s store</a:t>
            </a:r>
          </a:p>
        </p:txBody>
      </p:sp>
      <p:grpSp>
        <p:nvGrpSpPr>
          <p:cNvPr id="16" name="Group 16"/>
          <p:cNvGrpSpPr/>
          <p:nvPr/>
        </p:nvGrpSpPr>
        <p:grpSpPr>
          <a:xfrm>
            <a:off x="5382900" y="8920498"/>
            <a:ext cx="337802" cy="337802"/>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EAE2"/>
            </a:solidFill>
          </p:spPr>
          <p:txBody>
            <a:bodyPr/>
            <a:lstStyle/>
            <a:p>
              <a:endParaRPr lang="en-US"/>
            </a:p>
          </p:txBody>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229099" y="8920498"/>
            <a:ext cx="337802" cy="337802"/>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EAE2"/>
            </a:solidFill>
          </p:spPr>
          <p:txBody>
            <a:bodyPr/>
            <a:lstStyle/>
            <a:p>
              <a:endParaRPr lang="en-US"/>
            </a:p>
          </p:txBody>
        </p:sp>
        <p:sp>
          <p:nvSpPr>
            <p:cNvPr id="21" name="TextBox 2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16921498" y="8920498"/>
            <a:ext cx="337802" cy="337802"/>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EAE2"/>
            </a:solidFill>
          </p:spPr>
          <p:txBody>
            <a:bodyPr/>
            <a:lstStyle/>
            <a:p>
              <a:endParaRPr lang="en-US"/>
            </a:p>
          </p:txBody>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13112256" y="8920498"/>
            <a:ext cx="337802" cy="33780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EAE2"/>
            </a:solidFill>
          </p:spPr>
          <p:txBody>
            <a:bodyPr/>
            <a:lstStyle/>
            <a:p>
              <a:endParaRPr lang="en-US"/>
            </a:p>
          </p:txBody>
        </p:sp>
        <p:sp>
          <p:nvSpPr>
            <p:cNvPr id="27" name="TextBox 2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8" name="TextBox 28"/>
          <p:cNvSpPr txBox="1"/>
          <p:nvPr/>
        </p:nvSpPr>
        <p:spPr>
          <a:xfrm>
            <a:off x="942856" y="9365846"/>
            <a:ext cx="1592375" cy="333609"/>
          </a:xfrm>
          <a:prstGeom prst="rect">
            <a:avLst/>
          </a:prstGeom>
        </p:spPr>
        <p:txBody>
          <a:bodyPr wrap="square" lIns="0" tIns="0" rIns="0" bIns="0" rtlCol="0" anchor="t">
            <a:spAutoFit/>
          </a:bodyPr>
          <a:lstStyle/>
          <a:p>
            <a:pPr algn="ctr">
              <a:lnSpc>
                <a:spcPts val="2800"/>
              </a:lnSpc>
            </a:pPr>
            <a:r>
              <a:rPr lang="en-US" sz="2000" b="1" dirty="0">
                <a:solidFill>
                  <a:srgbClr val="F3F2F0"/>
                </a:solidFill>
                <a:highlight>
                  <a:srgbClr val="000000"/>
                </a:highlight>
                <a:latin typeface="Open Sauce Bold"/>
                <a:ea typeface="Open Sauce Bold"/>
                <a:cs typeface="Open Sauce Bold"/>
                <a:sym typeface="Open Sauce Bold"/>
              </a:rPr>
              <a:t>Background</a:t>
            </a:r>
          </a:p>
        </p:txBody>
      </p:sp>
      <p:sp>
        <p:nvSpPr>
          <p:cNvPr id="29" name="TextBox 29"/>
          <p:cNvSpPr txBox="1"/>
          <p:nvPr/>
        </p:nvSpPr>
        <p:spPr>
          <a:xfrm>
            <a:off x="4825369" y="9365846"/>
            <a:ext cx="1592375" cy="333606"/>
          </a:xfrm>
          <a:prstGeom prst="rect">
            <a:avLst/>
          </a:prstGeom>
        </p:spPr>
        <p:txBody>
          <a:bodyPr wrap="square" lIns="0" tIns="0" rIns="0" bIns="0" rtlCol="0" anchor="t">
            <a:spAutoFit/>
          </a:bodyPr>
          <a:lstStyle/>
          <a:p>
            <a:pPr algn="ctr">
              <a:lnSpc>
                <a:spcPts val="2800"/>
              </a:lnSpc>
            </a:pPr>
            <a:r>
              <a:rPr lang="en-US" sz="2000" dirty="0">
                <a:solidFill>
                  <a:srgbClr val="F3F2F0"/>
                </a:solidFill>
                <a:latin typeface="Open Sauce"/>
                <a:ea typeface="Open Sauce"/>
                <a:cs typeface="Open Sauce"/>
                <a:sym typeface="Open Sauce"/>
              </a:rPr>
              <a:t>Key </a:t>
            </a:r>
            <a:r>
              <a:rPr lang="en-US" sz="2000" dirty="0" err="1">
                <a:solidFill>
                  <a:srgbClr val="F3F2F0"/>
                </a:solidFill>
                <a:latin typeface="Open Sauce"/>
                <a:ea typeface="Open Sauce"/>
                <a:cs typeface="Open Sauce"/>
                <a:sym typeface="Open Sauce"/>
              </a:rPr>
              <a:t>isssues</a:t>
            </a:r>
            <a:endParaRPr lang="en-US" sz="2000" dirty="0">
              <a:solidFill>
                <a:srgbClr val="F3F2F0"/>
              </a:solidFill>
              <a:latin typeface="Open Sauce"/>
              <a:ea typeface="Open Sauce"/>
              <a:cs typeface="Open Sauce"/>
              <a:sym typeface="Open Sauce"/>
            </a:endParaRPr>
          </a:p>
        </p:txBody>
      </p:sp>
      <p:sp>
        <p:nvSpPr>
          <p:cNvPr id="30" name="TextBox 30"/>
          <p:cNvSpPr txBox="1"/>
          <p:nvPr/>
        </p:nvSpPr>
        <p:spPr>
          <a:xfrm>
            <a:off x="8888375" y="9365846"/>
            <a:ext cx="1019249" cy="349250"/>
          </a:xfrm>
          <a:prstGeom prst="rect">
            <a:avLst/>
          </a:prstGeom>
        </p:spPr>
        <p:txBody>
          <a:bodyPr lIns="0" tIns="0" rIns="0" bIns="0" rtlCol="0" anchor="t">
            <a:spAutoFit/>
          </a:bodyPr>
          <a:lstStyle/>
          <a:p>
            <a:pPr algn="ctr">
              <a:lnSpc>
                <a:spcPts val="2800"/>
              </a:lnSpc>
            </a:pPr>
            <a:r>
              <a:rPr lang="en-US" sz="2000">
                <a:solidFill>
                  <a:srgbClr val="F3F2F0"/>
                </a:solidFill>
                <a:latin typeface="Open Sauce"/>
                <a:ea typeface="Open Sauce"/>
                <a:cs typeface="Open Sauce"/>
                <a:sym typeface="Open Sauce"/>
              </a:rPr>
              <a:t>Analysis</a:t>
            </a:r>
          </a:p>
        </p:txBody>
      </p:sp>
      <p:sp>
        <p:nvSpPr>
          <p:cNvPr id="31" name="TextBox 31"/>
          <p:cNvSpPr txBox="1"/>
          <p:nvPr/>
        </p:nvSpPr>
        <p:spPr>
          <a:xfrm>
            <a:off x="12197762" y="9350208"/>
            <a:ext cx="2280238" cy="328295"/>
          </a:xfrm>
          <a:prstGeom prst="rect">
            <a:avLst/>
          </a:prstGeom>
        </p:spPr>
        <p:txBody>
          <a:bodyPr wrap="square" lIns="0" tIns="0" rIns="0" bIns="0" rtlCol="0" anchor="t">
            <a:spAutoFit/>
          </a:bodyPr>
          <a:lstStyle/>
          <a:p>
            <a:pPr algn="ctr">
              <a:lnSpc>
                <a:spcPts val="2800"/>
              </a:lnSpc>
            </a:pPr>
            <a:r>
              <a:rPr lang="en-US" sz="2000" dirty="0">
                <a:solidFill>
                  <a:srgbClr val="F3F2F0"/>
                </a:solidFill>
                <a:latin typeface="Open Sauce"/>
                <a:ea typeface="Open Sauce"/>
                <a:cs typeface="Open Sauce"/>
                <a:sym typeface="Open Sauce"/>
              </a:rPr>
              <a:t>Recommendation</a:t>
            </a:r>
          </a:p>
        </p:txBody>
      </p:sp>
      <p:sp>
        <p:nvSpPr>
          <p:cNvPr id="32" name="TextBox 32"/>
          <p:cNvSpPr txBox="1"/>
          <p:nvPr/>
        </p:nvSpPr>
        <p:spPr>
          <a:xfrm>
            <a:off x="16509002" y="9350209"/>
            <a:ext cx="1162794" cy="349250"/>
          </a:xfrm>
          <a:prstGeom prst="rect">
            <a:avLst/>
          </a:prstGeom>
        </p:spPr>
        <p:txBody>
          <a:bodyPr lIns="0" tIns="0" rIns="0" bIns="0" rtlCol="0" anchor="t">
            <a:spAutoFit/>
          </a:bodyPr>
          <a:lstStyle/>
          <a:p>
            <a:pPr algn="ctr">
              <a:lnSpc>
                <a:spcPts val="2800"/>
              </a:lnSpc>
            </a:pPr>
            <a:r>
              <a:rPr lang="en-US" sz="2000">
                <a:solidFill>
                  <a:srgbClr val="F3F2F0"/>
                </a:solidFill>
                <a:latin typeface="Open Sauce"/>
                <a:ea typeface="Open Sauce"/>
                <a:cs typeface="Open Sauce"/>
                <a:sym typeface="Open Sauce"/>
              </a:rPr>
              <a:t>Appendix</a:t>
            </a:r>
          </a:p>
        </p:txBody>
      </p:sp>
      <p:sp>
        <p:nvSpPr>
          <p:cNvPr id="33" name="TextBox 33"/>
          <p:cNvSpPr txBox="1"/>
          <p:nvPr/>
        </p:nvSpPr>
        <p:spPr>
          <a:xfrm>
            <a:off x="10752433" y="981075"/>
            <a:ext cx="6506867" cy="7870825"/>
          </a:xfrm>
          <a:prstGeom prst="rect">
            <a:avLst/>
          </a:prstGeom>
        </p:spPr>
        <p:txBody>
          <a:bodyPr lIns="0" tIns="0" rIns="0" bIns="0" rtlCol="0" anchor="t">
            <a:spAutoFit/>
          </a:bodyPr>
          <a:lstStyle/>
          <a:p>
            <a:pPr algn="just">
              <a:lnSpc>
                <a:spcPts val="3499"/>
              </a:lnSpc>
            </a:pPr>
            <a:r>
              <a:rPr lang="en-US" sz="2499">
                <a:solidFill>
                  <a:srgbClr val="F3F2F0"/>
                </a:solidFill>
                <a:latin typeface="Open Sauce"/>
                <a:ea typeface="Open Sauce"/>
                <a:cs typeface="Open Sauce"/>
                <a:sym typeface="Open Sauce"/>
              </a:rPr>
              <a:t>For many years, BB STORE’S has built up a good reputation as a fashionable and affordable women's clothing brand.  BB STORE’S offers various product types, from daily casual clothes to elegant dresses and party attire. Target customers of BB are women between 25 and 34, who look for modern, timeless and minimalist designs.</a:t>
            </a:r>
          </a:p>
          <a:p>
            <a:pPr algn="just">
              <a:lnSpc>
                <a:spcPts val="3499"/>
              </a:lnSpc>
            </a:pPr>
            <a:endParaRPr lang="en-US" sz="2499">
              <a:solidFill>
                <a:srgbClr val="F3F2F0"/>
              </a:solidFill>
              <a:latin typeface="Open Sauce"/>
              <a:ea typeface="Open Sauce"/>
              <a:cs typeface="Open Sauce"/>
              <a:sym typeface="Open Sauce"/>
            </a:endParaRPr>
          </a:p>
          <a:p>
            <a:pPr algn="just">
              <a:lnSpc>
                <a:spcPts val="3499"/>
              </a:lnSpc>
            </a:pPr>
            <a:r>
              <a:rPr lang="en-US" sz="2499">
                <a:solidFill>
                  <a:srgbClr val="F3F2F0"/>
                </a:solidFill>
                <a:latin typeface="Open Sauce"/>
                <a:ea typeface="Open Sauce"/>
                <a:cs typeface="Open Sauce"/>
                <a:sym typeface="Open Sauce"/>
              </a:rPr>
              <a:t>However, BB STORE’S is now facing stagnation in growth due to the lack of innovative and suitable strategies. Therefore, the performance data from January 1 to May 26 is collected for further analysis and prescription.</a:t>
            </a:r>
          </a:p>
          <a:p>
            <a:pPr algn="just">
              <a:lnSpc>
                <a:spcPts val="3499"/>
              </a:lnSpc>
            </a:pPr>
            <a:endParaRPr lang="en-US" sz="2499">
              <a:solidFill>
                <a:srgbClr val="F3F2F0"/>
              </a:solidFill>
              <a:latin typeface="Open Sauce"/>
              <a:ea typeface="Open Sauce"/>
              <a:cs typeface="Open Sauce"/>
              <a:sym typeface="Open Sauce"/>
            </a:endParaRPr>
          </a:p>
          <a:p>
            <a:pPr algn="just">
              <a:lnSpc>
                <a:spcPts val="3499"/>
              </a:lnSpc>
            </a:pPr>
            <a:endParaRPr lang="en-US" sz="2499">
              <a:solidFill>
                <a:srgbClr val="F3F2F0"/>
              </a:solidFill>
              <a:latin typeface="Open Sauce"/>
              <a:ea typeface="Open Sauce"/>
              <a:cs typeface="Open Sauce"/>
              <a:sym typeface="Open Sauc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2F0"/>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12141200" y="0"/>
            <a:ext cx="6146800" cy="10287000"/>
            <a:chOff x="0" y="0"/>
            <a:chExt cx="1618910" cy="2709333"/>
          </a:xfrm>
        </p:grpSpPr>
        <p:sp>
          <p:nvSpPr>
            <p:cNvPr id="3" name="Freeform 3"/>
            <p:cNvSpPr/>
            <p:nvPr/>
          </p:nvSpPr>
          <p:spPr>
            <a:xfrm>
              <a:off x="0" y="0"/>
              <a:ext cx="1618910" cy="2709333"/>
            </a:xfrm>
            <a:custGeom>
              <a:avLst/>
              <a:gdLst/>
              <a:ahLst/>
              <a:cxnLst/>
              <a:rect l="l" t="t" r="r" b="b"/>
              <a:pathLst>
                <a:path w="1618910" h="2709333">
                  <a:moveTo>
                    <a:pt x="0" y="0"/>
                  </a:moveTo>
                  <a:lnTo>
                    <a:pt x="1618910" y="0"/>
                  </a:lnTo>
                  <a:lnTo>
                    <a:pt x="1618910" y="2709333"/>
                  </a:lnTo>
                  <a:lnTo>
                    <a:pt x="0" y="2709333"/>
                  </a:lnTo>
                  <a:close/>
                </a:path>
              </a:pathLst>
            </a:custGeom>
            <a:solidFill>
              <a:srgbClr val="292961"/>
            </a:solidFill>
          </p:spPr>
          <p:txBody>
            <a:bodyPr/>
            <a:lstStyle/>
            <a:p>
              <a:endParaRPr lang="en-US"/>
            </a:p>
          </p:txBody>
        </p:sp>
        <p:sp>
          <p:nvSpPr>
            <p:cNvPr id="4" name="TextBox 4"/>
            <p:cNvSpPr txBox="1"/>
            <p:nvPr/>
          </p:nvSpPr>
          <p:spPr>
            <a:xfrm>
              <a:off x="0" y="-38100"/>
              <a:ext cx="1618910" cy="274743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141200" y="4140200"/>
            <a:ext cx="6146800" cy="6146800"/>
            <a:chOff x="0" y="0"/>
            <a:chExt cx="3331210" cy="3331210"/>
          </a:xfrm>
        </p:grpSpPr>
        <p:sp>
          <p:nvSpPr>
            <p:cNvPr id="6" name="Freeform 6"/>
            <p:cNvSpPr/>
            <p:nvPr/>
          </p:nvSpPr>
          <p:spPr>
            <a:xfrm>
              <a:off x="0" y="0"/>
              <a:ext cx="3331210" cy="3331210"/>
            </a:xfrm>
            <a:custGeom>
              <a:avLst/>
              <a:gdLst/>
              <a:ahLst/>
              <a:cxnLst/>
              <a:rect l="l" t="t" r="r" b="b"/>
              <a:pathLst>
                <a:path w="3331210" h="3331210">
                  <a:moveTo>
                    <a:pt x="3331210" y="3331210"/>
                  </a:moveTo>
                  <a:lnTo>
                    <a:pt x="0" y="3331210"/>
                  </a:lnTo>
                  <a:cubicBezTo>
                    <a:pt x="0" y="1490980"/>
                    <a:pt x="1490980" y="0"/>
                    <a:pt x="3331210" y="0"/>
                  </a:cubicBezTo>
                  <a:lnTo>
                    <a:pt x="3331210" y="3331210"/>
                  </a:lnTo>
                  <a:close/>
                </a:path>
              </a:pathLst>
            </a:custGeom>
            <a:blipFill>
              <a:blip r:embed="rId2"/>
              <a:stretch>
                <a:fillRect l="-5683" t="-67028"/>
              </a:stretch>
            </a:blipFill>
          </p:spPr>
          <p:txBody>
            <a:bodyPr/>
            <a:lstStyle/>
            <a:p>
              <a:endParaRPr lang="en-US"/>
            </a:p>
          </p:txBody>
        </p:sp>
      </p:grpSp>
      <p:grpSp>
        <p:nvGrpSpPr>
          <p:cNvPr id="7" name="Group 7"/>
          <p:cNvGrpSpPr/>
          <p:nvPr/>
        </p:nvGrpSpPr>
        <p:grpSpPr>
          <a:xfrm>
            <a:off x="12141200" y="0"/>
            <a:ext cx="4762500" cy="4762500"/>
            <a:chOff x="0" y="0"/>
            <a:chExt cx="3331210" cy="3331210"/>
          </a:xfrm>
        </p:grpSpPr>
        <p:sp>
          <p:nvSpPr>
            <p:cNvPr id="8" name="Freeform 8"/>
            <p:cNvSpPr/>
            <p:nvPr/>
          </p:nvSpPr>
          <p:spPr>
            <a:xfrm>
              <a:off x="0" y="0"/>
              <a:ext cx="3331210" cy="3331210"/>
            </a:xfrm>
            <a:custGeom>
              <a:avLst/>
              <a:gdLst/>
              <a:ahLst/>
              <a:cxnLst/>
              <a:rect l="l" t="t" r="r" b="b"/>
              <a:pathLst>
                <a:path w="3331210" h="3331210">
                  <a:moveTo>
                    <a:pt x="0" y="0"/>
                  </a:moveTo>
                  <a:lnTo>
                    <a:pt x="3331210" y="0"/>
                  </a:lnTo>
                  <a:cubicBezTo>
                    <a:pt x="3331210" y="1840230"/>
                    <a:pt x="1840230" y="3331210"/>
                    <a:pt x="0" y="3331210"/>
                  </a:cubicBezTo>
                  <a:lnTo>
                    <a:pt x="0" y="0"/>
                  </a:lnTo>
                  <a:close/>
                </a:path>
              </a:pathLst>
            </a:custGeom>
            <a:blipFill>
              <a:blip r:embed="rId2"/>
              <a:stretch>
                <a:fillRect r="-28666" b="-103351"/>
              </a:stretch>
            </a:blipFill>
          </p:spPr>
          <p:txBody>
            <a:bodyPr/>
            <a:lstStyle/>
            <a:p>
              <a:endParaRPr lang="en-US"/>
            </a:p>
          </p:txBody>
        </p:sp>
      </p:grpSp>
      <p:sp>
        <p:nvSpPr>
          <p:cNvPr id="9" name="AutoShape 9"/>
          <p:cNvSpPr/>
          <p:nvPr/>
        </p:nvSpPr>
        <p:spPr>
          <a:xfrm>
            <a:off x="1308100" y="4595349"/>
            <a:ext cx="904707" cy="0"/>
          </a:xfrm>
          <a:prstGeom prst="line">
            <a:avLst/>
          </a:prstGeom>
          <a:ln w="28575" cap="flat">
            <a:solidFill>
              <a:srgbClr val="292961"/>
            </a:solidFill>
            <a:prstDash val="solid"/>
            <a:headEnd type="none" w="sm" len="sm"/>
            <a:tailEnd type="none" w="sm" len="sm"/>
          </a:ln>
        </p:spPr>
        <p:txBody>
          <a:bodyPr/>
          <a:lstStyle/>
          <a:p>
            <a:endParaRPr lang="en-US"/>
          </a:p>
        </p:txBody>
      </p:sp>
      <p:sp>
        <p:nvSpPr>
          <p:cNvPr id="10" name="AutoShape 10"/>
          <p:cNvSpPr/>
          <p:nvPr/>
        </p:nvSpPr>
        <p:spPr>
          <a:xfrm>
            <a:off x="1308100" y="5281149"/>
            <a:ext cx="904707" cy="0"/>
          </a:xfrm>
          <a:prstGeom prst="line">
            <a:avLst/>
          </a:prstGeom>
          <a:ln w="28575" cap="flat">
            <a:solidFill>
              <a:srgbClr val="292961"/>
            </a:solidFill>
            <a:prstDash val="solid"/>
            <a:headEnd type="none" w="sm" len="sm"/>
            <a:tailEnd type="none" w="sm" len="sm"/>
          </a:ln>
        </p:spPr>
        <p:txBody>
          <a:bodyPr/>
          <a:lstStyle/>
          <a:p>
            <a:endParaRPr lang="en-US"/>
          </a:p>
        </p:txBody>
      </p:sp>
      <p:sp>
        <p:nvSpPr>
          <p:cNvPr id="11" name="AutoShape 11"/>
          <p:cNvSpPr/>
          <p:nvPr/>
        </p:nvSpPr>
        <p:spPr>
          <a:xfrm>
            <a:off x="1308100" y="5966949"/>
            <a:ext cx="904707" cy="0"/>
          </a:xfrm>
          <a:prstGeom prst="line">
            <a:avLst/>
          </a:prstGeom>
          <a:ln w="28575" cap="flat">
            <a:solidFill>
              <a:srgbClr val="292961"/>
            </a:solidFill>
            <a:prstDash val="solid"/>
            <a:headEnd type="none" w="sm" len="sm"/>
            <a:tailEnd type="none" w="sm" len="sm"/>
          </a:ln>
        </p:spPr>
        <p:txBody>
          <a:bodyPr/>
          <a:lstStyle/>
          <a:p>
            <a:endParaRPr lang="en-US"/>
          </a:p>
        </p:txBody>
      </p:sp>
      <p:sp>
        <p:nvSpPr>
          <p:cNvPr id="14" name="TextBox 14"/>
          <p:cNvSpPr txBox="1"/>
          <p:nvPr/>
        </p:nvSpPr>
        <p:spPr>
          <a:xfrm>
            <a:off x="1155133" y="2134142"/>
            <a:ext cx="9067800" cy="1094740"/>
          </a:xfrm>
          <a:prstGeom prst="rect">
            <a:avLst/>
          </a:prstGeom>
        </p:spPr>
        <p:txBody>
          <a:bodyPr lIns="0" tIns="0" rIns="0" bIns="0" rtlCol="0" anchor="t">
            <a:spAutoFit/>
          </a:bodyPr>
          <a:lstStyle/>
          <a:p>
            <a:pPr marL="0" lvl="0" indent="0" algn="l">
              <a:lnSpc>
                <a:spcPts val="8959"/>
              </a:lnSpc>
              <a:spcBef>
                <a:spcPct val="0"/>
              </a:spcBef>
            </a:pPr>
            <a:r>
              <a:rPr lang="en-US" sz="6399">
                <a:solidFill>
                  <a:srgbClr val="292961"/>
                </a:solidFill>
                <a:latin typeface="Cinzel Decorative"/>
                <a:ea typeface="Cinzel Decorative"/>
                <a:cs typeface="Cinzel Decorative"/>
                <a:sym typeface="Cinzel Decorative"/>
              </a:rPr>
              <a:t>KEY ISSUES</a:t>
            </a:r>
          </a:p>
        </p:txBody>
      </p:sp>
      <p:sp>
        <p:nvSpPr>
          <p:cNvPr id="15" name="TextBox 15"/>
          <p:cNvSpPr txBox="1"/>
          <p:nvPr/>
        </p:nvSpPr>
        <p:spPr>
          <a:xfrm>
            <a:off x="2512984" y="4144676"/>
            <a:ext cx="9185989" cy="2004459"/>
          </a:xfrm>
          <a:prstGeom prst="rect">
            <a:avLst/>
          </a:prstGeom>
        </p:spPr>
        <p:txBody>
          <a:bodyPr lIns="0" tIns="0" rIns="0" bIns="0" rtlCol="0" anchor="t">
            <a:spAutoFit/>
          </a:bodyPr>
          <a:lstStyle/>
          <a:p>
            <a:pPr algn="l">
              <a:lnSpc>
                <a:spcPts val="5499"/>
              </a:lnSpc>
            </a:pPr>
            <a:r>
              <a:rPr lang="en-US" sz="2199" dirty="0">
                <a:solidFill>
                  <a:srgbClr val="292961"/>
                </a:solidFill>
                <a:latin typeface="Open Sauce"/>
                <a:ea typeface="Open Sauce"/>
                <a:cs typeface="Open Sauce"/>
                <a:sym typeface="Open Sauce"/>
              </a:rPr>
              <a:t>Domination of certain factors to revenue</a:t>
            </a:r>
          </a:p>
          <a:p>
            <a:pPr algn="l">
              <a:lnSpc>
                <a:spcPts val="5499"/>
              </a:lnSpc>
            </a:pPr>
            <a:r>
              <a:rPr lang="en-US" sz="2199" dirty="0">
                <a:solidFill>
                  <a:srgbClr val="292961"/>
                </a:solidFill>
                <a:latin typeface="Open Sauce"/>
                <a:ea typeface="Open Sauce"/>
                <a:cs typeface="Open Sauce"/>
                <a:sym typeface="Open Sauce"/>
              </a:rPr>
              <a:t>Failure of Traffic and Conversion Rates in driving more purchases</a:t>
            </a:r>
          </a:p>
          <a:p>
            <a:pPr algn="l">
              <a:lnSpc>
                <a:spcPts val="5499"/>
              </a:lnSpc>
            </a:pPr>
            <a:r>
              <a:rPr lang="en-US" sz="2199" dirty="0">
                <a:solidFill>
                  <a:srgbClr val="292961"/>
                </a:solidFill>
                <a:latin typeface="Open Sauce"/>
                <a:ea typeface="Open Sauce"/>
                <a:cs typeface="Open Sauce"/>
                <a:sym typeface="Open Sauce"/>
              </a:rPr>
              <a:t>Ineffective utilization of weekends and golden hours for shopping</a:t>
            </a:r>
          </a:p>
        </p:txBody>
      </p:sp>
      <p:sp>
        <p:nvSpPr>
          <p:cNvPr id="16" name="Freeform 16"/>
          <p:cNvSpPr/>
          <p:nvPr/>
        </p:nvSpPr>
        <p:spPr>
          <a:xfrm>
            <a:off x="9338198" y="1822442"/>
            <a:ext cx="1568755" cy="1563051"/>
          </a:xfrm>
          <a:custGeom>
            <a:avLst/>
            <a:gdLst/>
            <a:ahLst/>
            <a:cxnLst/>
            <a:rect l="l" t="t" r="r" b="b"/>
            <a:pathLst>
              <a:path w="1568755" h="1563051">
                <a:moveTo>
                  <a:pt x="0" y="0"/>
                </a:moveTo>
                <a:lnTo>
                  <a:pt x="1568755" y="0"/>
                </a:lnTo>
                <a:lnTo>
                  <a:pt x="1568755" y="1563051"/>
                </a:lnTo>
                <a:lnTo>
                  <a:pt x="0" y="156305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AutoShape 17"/>
          <p:cNvSpPr/>
          <p:nvPr/>
        </p:nvSpPr>
        <p:spPr>
          <a:xfrm>
            <a:off x="153670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sp>
        <p:nvSpPr>
          <p:cNvPr id="18" name="AutoShape 18"/>
          <p:cNvSpPr/>
          <p:nvPr/>
        </p:nvSpPr>
        <p:spPr>
          <a:xfrm>
            <a:off x="802894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sp>
        <p:nvSpPr>
          <p:cNvPr id="19" name="AutoShape 19"/>
          <p:cNvSpPr/>
          <p:nvPr/>
        </p:nvSpPr>
        <p:spPr>
          <a:xfrm>
            <a:off x="1076706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20" name="Group 20"/>
          <p:cNvGrpSpPr/>
          <p:nvPr/>
        </p:nvGrpSpPr>
        <p:grpSpPr>
          <a:xfrm>
            <a:off x="1536700" y="8925252"/>
            <a:ext cx="337802" cy="33780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22" name="TextBox 2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5382900" y="8920498"/>
            <a:ext cx="337802" cy="337802"/>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en-US"/>
            </a:p>
          </p:txBody>
        </p:sp>
        <p:sp>
          <p:nvSpPr>
            <p:cNvPr id="25" name="TextBox 2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9229099" y="8920498"/>
            <a:ext cx="337802" cy="337802"/>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28" name="TextBox 2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a:off x="16921498" y="8920498"/>
            <a:ext cx="337802" cy="337802"/>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31" name="TextBox 3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32" name="Group 32"/>
          <p:cNvGrpSpPr/>
          <p:nvPr/>
        </p:nvGrpSpPr>
        <p:grpSpPr>
          <a:xfrm>
            <a:off x="13112256" y="8920498"/>
            <a:ext cx="337802" cy="337802"/>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34" name="TextBox 3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5" name="TextBox 35"/>
          <p:cNvSpPr txBox="1"/>
          <p:nvPr/>
        </p:nvSpPr>
        <p:spPr>
          <a:xfrm>
            <a:off x="969794" y="9365846"/>
            <a:ext cx="1543189" cy="328295"/>
          </a:xfrm>
          <a:prstGeom prst="rect">
            <a:avLst/>
          </a:prstGeom>
        </p:spPr>
        <p:txBody>
          <a:bodyPr wrap="square" lIns="0" tIns="0" rIns="0" bIns="0" rtlCol="0" anchor="t">
            <a:spAutoFit/>
          </a:bodyPr>
          <a:lstStyle/>
          <a:p>
            <a:pPr algn="ctr">
              <a:lnSpc>
                <a:spcPts val="2800"/>
              </a:lnSpc>
            </a:pPr>
            <a:r>
              <a:rPr lang="en-US" sz="2000" dirty="0">
                <a:solidFill>
                  <a:srgbClr val="000000"/>
                </a:solidFill>
                <a:latin typeface="Open Sauce"/>
                <a:ea typeface="Open Sauce"/>
                <a:cs typeface="Open Sauce"/>
                <a:sym typeface="Open Sauce"/>
              </a:rPr>
              <a:t>Background</a:t>
            </a:r>
          </a:p>
        </p:txBody>
      </p:sp>
      <p:sp>
        <p:nvSpPr>
          <p:cNvPr id="36" name="TextBox 36"/>
          <p:cNvSpPr txBox="1"/>
          <p:nvPr/>
        </p:nvSpPr>
        <p:spPr>
          <a:xfrm>
            <a:off x="4800256" y="9365846"/>
            <a:ext cx="1600544" cy="333611"/>
          </a:xfrm>
          <a:prstGeom prst="rect">
            <a:avLst/>
          </a:prstGeom>
        </p:spPr>
        <p:txBody>
          <a:bodyPr wrap="square" lIns="0" tIns="0" rIns="0" bIns="0" rtlCol="0" anchor="t">
            <a:spAutoFit/>
          </a:bodyPr>
          <a:lstStyle/>
          <a:p>
            <a:pPr algn="ctr">
              <a:lnSpc>
                <a:spcPts val="2800"/>
              </a:lnSpc>
            </a:pPr>
            <a:r>
              <a:rPr lang="en-US" sz="2000" b="1" dirty="0">
                <a:solidFill>
                  <a:srgbClr val="FFFFFF"/>
                </a:solidFill>
                <a:highlight>
                  <a:srgbClr val="000000"/>
                </a:highlight>
                <a:latin typeface="Open Sauce Bold"/>
                <a:ea typeface="Open Sauce Bold"/>
                <a:cs typeface="Open Sauce Bold"/>
                <a:sym typeface="Open Sauce Bold"/>
              </a:rPr>
              <a:t>Key issues</a:t>
            </a:r>
          </a:p>
        </p:txBody>
      </p:sp>
      <p:sp>
        <p:nvSpPr>
          <p:cNvPr id="37" name="TextBox 37"/>
          <p:cNvSpPr txBox="1"/>
          <p:nvPr/>
        </p:nvSpPr>
        <p:spPr>
          <a:xfrm>
            <a:off x="8888375" y="9365846"/>
            <a:ext cx="1019249" cy="349250"/>
          </a:xfrm>
          <a:prstGeom prst="rect">
            <a:avLst/>
          </a:prstGeom>
        </p:spPr>
        <p:txBody>
          <a:bodyPr lIns="0" tIns="0" rIns="0" bIns="0" rtlCol="0" anchor="t">
            <a:spAutoFit/>
          </a:bodyPr>
          <a:lstStyle/>
          <a:p>
            <a:pPr algn="ctr">
              <a:lnSpc>
                <a:spcPts val="2800"/>
              </a:lnSpc>
            </a:pPr>
            <a:r>
              <a:rPr lang="en-US" sz="2000">
                <a:solidFill>
                  <a:srgbClr val="000000"/>
                </a:solidFill>
                <a:latin typeface="Open Sauce"/>
                <a:ea typeface="Open Sauce"/>
                <a:cs typeface="Open Sauce"/>
                <a:sym typeface="Open Sauce"/>
              </a:rPr>
              <a:t>Analysis</a:t>
            </a:r>
          </a:p>
        </p:txBody>
      </p:sp>
      <p:sp>
        <p:nvSpPr>
          <p:cNvPr id="38" name="TextBox 38"/>
          <p:cNvSpPr txBox="1"/>
          <p:nvPr/>
        </p:nvSpPr>
        <p:spPr>
          <a:xfrm>
            <a:off x="12197762" y="9350208"/>
            <a:ext cx="2204038" cy="328295"/>
          </a:xfrm>
          <a:prstGeom prst="rect">
            <a:avLst/>
          </a:prstGeom>
        </p:spPr>
        <p:txBody>
          <a:bodyPr wrap="square" lIns="0" tIns="0" rIns="0" bIns="0" rtlCol="0" anchor="t">
            <a:spAutoFit/>
          </a:bodyPr>
          <a:lstStyle/>
          <a:p>
            <a:pPr algn="ctr">
              <a:lnSpc>
                <a:spcPts val="2800"/>
              </a:lnSpc>
            </a:pPr>
            <a:r>
              <a:rPr lang="en-US" sz="2000" dirty="0">
                <a:solidFill>
                  <a:srgbClr val="EAEAE2"/>
                </a:solidFill>
                <a:latin typeface="Open Sauce"/>
                <a:ea typeface="Open Sauce"/>
                <a:cs typeface="Open Sauce"/>
                <a:sym typeface="Open Sauce"/>
              </a:rPr>
              <a:t>Recommendation</a:t>
            </a:r>
          </a:p>
        </p:txBody>
      </p:sp>
      <p:sp>
        <p:nvSpPr>
          <p:cNvPr id="39" name="TextBox 39"/>
          <p:cNvSpPr txBox="1"/>
          <p:nvPr/>
        </p:nvSpPr>
        <p:spPr>
          <a:xfrm>
            <a:off x="16509002" y="9350209"/>
            <a:ext cx="1162794" cy="349250"/>
          </a:xfrm>
          <a:prstGeom prst="rect">
            <a:avLst/>
          </a:prstGeom>
        </p:spPr>
        <p:txBody>
          <a:bodyPr lIns="0" tIns="0" rIns="0" bIns="0" rtlCol="0" anchor="t">
            <a:spAutoFit/>
          </a:bodyPr>
          <a:lstStyle/>
          <a:p>
            <a:pPr algn="ctr">
              <a:lnSpc>
                <a:spcPts val="2800"/>
              </a:lnSpc>
            </a:pPr>
            <a:r>
              <a:rPr lang="en-US" sz="2000">
                <a:solidFill>
                  <a:srgbClr val="EAEAE2"/>
                </a:solidFill>
                <a:latin typeface="Open Sauce"/>
                <a:ea typeface="Open Sauce"/>
                <a:cs typeface="Open Sauce"/>
                <a:sym typeface="Open Sauce"/>
              </a:rPr>
              <a:t>Appendix</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92961"/>
        </a:solidFill>
        <a:effectLst/>
      </p:bgPr>
    </p:bg>
    <p:spTree>
      <p:nvGrpSpPr>
        <p:cNvPr id="1" name=""/>
        <p:cNvGrpSpPr/>
        <p:nvPr/>
      </p:nvGrpSpPr>
      <p:grpSpPr>
        <a:xfrm>
          <a:off x="0" y="0"/>
          <a:ext cx="0" cy="0"/>
          <a:chOff x="0" y="0"/>
          <a:chExt cx="0" cy="0"/>
        </a:xfrm>
      </p:grpSpPr>
      <p:sp>
        <p:nvSpPr>
          <p:cNvPr id="2" name="AutoShape 2"/>
          <p:cNvSpPr/>
          <p:nvPr/>
        </p:nvSpPr>
        <p:spPr>
          <a:xfrm>
            <a:off x="153670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p:cNvSpPr/>
          <p:nvPr/>
        </p:nvSpPr>
        <p:spPr>
          <a:xfrm>
            <a:off x="802894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sp>
        <p:nvSpPr>
          <p:cNvPr id="4" name="AutoShape 4"/>
          <p:cNvSpPr/>
          <p:nvPr/>
        </p:nvSpPr>
        <p:spPr>
          <a:xfrm>
            <a:off x="1076706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5" name="Group 5"/>
          <p:cNvGrpSpPr/>
          <p:nvPr/>
        </p:nvGrpSpPr>
        <p:grpSpPr>
          <a:xfrm>
            <a:off x="1536700" y="8925252"/>
            <a:ext cx="337802" cy="33780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5382900" y="8920498"/>
            <a:ext cx="337802" cy="337802"/>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9229099" y="8920498"/>
            <a:ext cx="337802" cy="337802"/>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6921498" y="8920498"/>
            <a:ext cx="337802" cy="33780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3112256" y="8920498"/>
            <a:ext cx="337802" cy="33780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0" name="Freeform 20"/>
          <p:cNvSpPr/>
          <p:nvPr/>
        </p:nvSpPr>
        <p:spPr>
          <a:xfrm>
            <a:off x="969795" y="726947"/>
            <a:ext cx="6679069" cy="5276465"/>
          </a:xfrm>
          <a:custGeom>
            <a:avLst/>
            <a:gdLst/>
            <a:ahLst/>
            <a:cxnLst/>
            <a:rect l="l" t="t" r="r" b="b"/>
            <a:pathLst>
              <a:path w="6679069" h="5276465">
                <a:moveTo>
                  <a:pt x="0" y="0"/>
                </a:moveTo>
                <a:lnTo>
                  <a:pt x="6679069" y="0"/>
                </a:lnTo>
                <a:lnTo>
                  <a:pt x="6679069" y="5276464"/>
                </a:lnTo>
                <a:lnTo>
                  <a:pt x="0" y="5276464"/>
                </a:lnTo>
                <a:lnTo>
                  <a:pt x="0" y="0"/>
                </a:lnTo>
                <a:close/>
              </a:path>
            </a:pathLst>
          </a:custGeom>
          <a:blipFill>
            <a:blip r:embed="rId2"/>
            <a:stretch>
              <a:fillRect/>
            </a:stretch>
          </a:blipFill>
        </p:spPr>
        <p:txBody>
          <a:bodyPr/>
          <a:lstStyle/>
          <a:p>
            <a:endParaRPr lang="en-US"/>
          </a:p>
        </p:txBody>
      </p:sp>
      <p:sp>
        <p:nvSpPr>
          <p:cNvPr id="21" name="Freeform 21"/>
          <p:cNvSpPr/>
          <p:nvPr/>
        </p:nvSpPr>
        <p:spPr>
          <a:xfrm>
            <a:off x="8675623" y="4239888"/>
            <a:ext cx="8583677" cy="3701711"/>
          </a:xfrm>
          <a:custGeom>
            <a:avLst/>
            <a:gdLst/>
            <a:ahLst/>
            <a:cxnLst/>
            <a:rect l="l" t="t" r="r" b="b"/>
            <a:pathLst>
              <a:path w="8583677" h="3701711">
                <a:moveTo>
                  <a:pt x="0" y="0"/>
                </a:moveTo>
                <a:lnTo>
                  <a:pt x="8583677" y="0"/>
                </a:lnTo>
                <a:lnTo>
                  <a:pt x="8583677" y="3701710"/>
                </a:lnTo>
                <a:lnTo>
                  <a:pt x="0" y="3701710"/>
                </a:lnTo>
                <a:lnTo>
                  <a:pt x="0" y="0"/>
                </a:lnTo>
                <a:close/>
              </a:path>
            </a:pathLst>
          </a:custGeom>
          <a:blipFill>
            <a:blip r:embed="rId3"/>
            <a:stretch>
              <a:fillRect/>
            </a:stretch>
          </a:blipFill>
        </p:spPr>
        <p:txBody>
          <a:bodyPr/>
          <a:lstStyle/>
          <a:p>
            <a:endParaRPr lang="en-US"/>
          </a:p>
        </p:txBody>
      </p:sp>
      <p:sp>
        <p:nvSpPr>
          <p:cNvPr id="22" name="TextBox 22"/>
          <p:cNvSpPr txBox="1"/>
          <p:nvPr/>
        </p:nvSpPr>
        <p:spPr>
          <a:xfrm>
            <a:off x="969794" y="9365846"/>
            <a:ext cx="1587055" cy="328295"/>
          </a:xfrm>
          <a:prstGeom prst="rect">
            <a:avLst/>
          </a:prstGeom>
        </p:spPr>
        <p:txBody>
          <a:bodyPr wrap="square" lIns="0" tIns="0" rIns="0" bIns="0" rtlCol="0" anchor="t">
            <a:spAutoFit/>
          </a:bodyPr>
          <a:lstStyle/>
          <a:p>
            <a:pPr algn="ctr">
              <a:lnSpc>
                <a:spcPts val="2800"/>
              </a:lnSpc>
            </a:pPr>
            <a:r>
              <a:rPr lang="en-US" sz="2000" dirty="0">
                <a:solidFill>
                  <a:srgbClr val="FFFFFF"/>
                </a:solidFill>
                <a:latin typeface="Open Sauce"/>
                <a:ea typeface="Open Sauce"/>
                <a:cs typeface="Open Sauce"/>
                <a:sym typeface="Open Sauce"/>
              </a:rPr>
              <a:t>Background</a:t>
            </a:r>
          </a:p>
        </p:txBody>
      </p:sp>
      <p:sp>
        <p:nvSpPr>
          <p:cNvPr id="23" name="TextBox 23"/>
          <p:cNvSpPr txBox="1"/>
          <p:nvPr/>
        </p:nvSpPr>
        <p:spPr>
          <a:xfrm>
            <a:off x="4825369" y="9365846"/>
            <a:ext cx="1587055" cy="328295"/>
          </a:xfrm>
          <a:prstGeom prst="rect">
            <a:avLst/>
          </a:prstGeom>
        </p:spPr>
        <p:txBody>
          <a:bodyPr wrap="square" lIns="0" tIns="0" rIns="0" bIns="0" rtlCol="0" anchor="t">
            <a:spAutoFit/>
          </a:bodyPr>
          <a:lstStyle/>
          <a:p>
            <a:pPr algn="ctr">
              <a:lnSpc>
                <a:spcPts val="2800"/>
              </a:lnSpc>
            </a:pPr>
            <a:r>
              <a:rPr lang="en-US" sz="2000" dirty="0">
                <a:solidFill>
                  <a:srgbClr val="FFFFFF"/>
                </a:solidFill>
                <a:latin typeface="Open Sauce"/>
                <a:ea typeface="Open Sauce"/>
                <a:cs typeface="Open Sauce"/>
                <a:sym typeface="Open Sauce"/>
              </a:rPr>
              <a:t>Key </a:t>
            </a:r>
            <a:r>
              <a:rPr lang="en-US" sz="2000" dirty="0" err="1">
                <a:solidFill>
                  <a:srgbClr val="FFFFFF"/>
                </a:solidFill>
                <a:latin typeface="Open Sauce"/>
                <a:ea typeface="Open Sauce"/>
                <a:cs typeface="Open Sauce"/>
                <a:sym typeface="Open Sauce"/>
              </a:rPr>
              <a:t>isssues</a:t>
            </a:r>
            <a:endParaRPr lang="en-US" sz="2000" dirty="0">
              <a:solidFill>
                <a:srgbClr val="FFFFFF"/>
              </a:solidFill>
              <a:latin typeface="Open Sauce"/>
              <a:ea typeface="Open Sauce"/>
              <a:cs typeface="Open Sauce"/>
              <a:sym typeface="Open Sauce"/>
            </a:endParaRPr>
          </a:p>
        </p:txBody>
      </p:sp>
      <p:sp>
        <p:nvSpPr>
          <p:cNvPr id="24" name="TextBox 24"/>
          <p:cNvSpPr txBox="1"/>
          <p:nvPr/>
        </p:nvSpPr>
        <p:spPr>
          <a:xfrm>
            <a:off x="8866758" y="9365846"/>
            <a:ext cx="1062484" cy="328295"/>
          </a:xfrm>
          <a:prstGeom prst="rect">
            <a:avLst/>
          </a:prstGeom>
        </p:spPr>
        <p:txBody>
          <a:bodyPr lIns="0" tIns="0" rIns="0" bIns="0" rtlCol="0" anchor="t">
            <a:spAutoFit/>
          </a:bodyPr>
          <a:lstStyle/>
          <a:p>
            <a:pPr algn="ctr">
              <a:lnSpc>
                <a:spcPts val="2800"/>
              </a:lnSpc>
            </a:pPr>
            <a:r>
              <a:rPr lang="en-US" sz="2000" b="1">
                <a:solidFill>
                  <a:srgbClr val="FFFFFF"/>
                </a:solidFill>
                <a:highlight>
                  <a:srgbClr val="000000"/>
                </a:highlight>
                <a:latin typeface="Open Sauce Bold"/>
                <a:ea typeface="Open Sauce Bold"/>
                <a:cs typeface="Open Sauce Bold"/>
                <a:sym typeface="Open Sauce Bold"/>
              </a:rPr>
              <a:t>Analysis</a:t>
            </a:r>
          </a:p>
        </p:txBody>
      </p:sp>
      <p:sp>
        <p:nvSpPr>
          <p:cNvPr id="25" name="TextBox 25"/>
          <p:cNvSpPr txBox="1"/>
          <p:nvPr/>
        </p:nvSpPr>
        <p:spPr>
          <a:xfrm>
            <a:off x="12197762" y="9350209"/>
            <a:ext cx="2280238" cy="328295"/>
          </a:xfrm>
          <a:prstGeom prst="rect">
            <a:avLst/>
          </a:prstGeom>
        </p:spPr>
        <p:txBody>
          <a:bodyPr wrap="square" lIns="0" tIns="0" rIns="0" bIns="0" rtlCol="0" anchor="t">
            <a:spAutoFit/>
          </a:bodyPr>
          <a:lstStyle/>
          <a:p>
            <a:pPr algn="ctr">
              <a:lnSpc>
                <a:spcPts val="2800"/>
              </a:lnSpc>
            </a:pPr>
            <a:r>
              <a:rPr lang="en-US" sz="2000" dirty="0">
                <a:solidFill>
                  <a:srgbClr val="EAEAE2"/>
                </a:solidFill>
                <a:latin typeface="Open Sauce"/>
                <a:ea typeface="Open Sauce"/>
                <a:cs typeface="Open Sauce"/>
                <a:sym typeface="Open Sauce"/>
              </a:rPr>
              <a:t>Recommendation</a:t>
            </a:r>
          </a:p>
        </p:txBody>
      </p:sp>
      <p:sp>
        <p:nvSpPr>
          <p:cNvPr id="26" name="TextBox 26"/>
          <p:cNvSpPr txBox="1"/>
          <p:nvPr/>
        </p:nvSpPr>
        <p:spPr>
          <a:xfrm>
            <a:off x="16509002" y="9350209"/>
            <a:ext cx="1162794" cy="349250"/>
          </a:xfrm>
          <a:prstGeom prst="rect">
            <a:avLst/>
          </a:prstGeom>
        </p:spPr>
        <p:txBody>
          <a:bodyPr lIns="0" tIns="0" rIns="0" bIns="0" rtlCol="0" anchor="t">
            <a:spAutoFit/>
          </a:bodyPr>
          <a:lstStyle/>
          <a:p>
            <a:pPr algn="ctr">
              <a:lnSpc>
                <a:spcPts val="2800"/>
              </a:lnSpc>
            </a:pPr>
            <a:r>
              <a:rPr lang="en-US" sz="2000">
                <a:solidFill>
                  <a:srgbClr val="EAEAE2"/>
                </a:solidFill>
                <a:latin typeface="Open Sauce"/>
                <a:ea typeface="Open Sauce"/>
                <a:cs typeface="Open Sauce"/>
                <a:sym typeface="Open Sauce"/>
              </a:rPr>
              <a:t>Appendix</a:t>
            </a:r>
          </a:p>
        </p:txBody>
      </p:sp>
      <p:sp>
        <p:nvSpPr>
          <p:cNvPr id="27" name="TextBox 27"/>
          <p:cNvSpPr txBox="1"/>
          <p:nvPr/>
        </p:nvSpPr>
        <p:spPr>
          <a:xfrm>
            <a:off x="969795" y="6327775"/>
            <a:ext cx="6679069" cy="1736725"/>
          </a:xfrm>
          <a:prstGeom prst="rect">
            <a:avLst/>
          </a:prstGeom>
        </p:spPr>
        <p:txBody>
          <a:bodyPr lIns="0" tIns="0" rIns="0" bIns="0" rtlCol="0" anchor="t">
            <a:spAutoFit/>
          </a:bodyPr>
          <a:lstStyle/>
          <a:p>
            <a:pPr algn="just">
              <a:lnSpc>
                <a:spcPts val="3499"/>
              </a:lnSpc>
            </a:pPr>
            <a:r>
              <a:rPr lang="en-US" sz="2499" b="1">
                <a:solidFill>
                  <a:srgbClr val="F3F2F0"/>
                </a:solidFill>
                <a:latin typeface="Open Sauce Bold"/>
                <a:ea typeface="Open Sauce Bold"/>
                <a:cs typeface="Open Sauce Bold"/>
                <a:sym typeface="Open Sauce Bold"/>
              </a:rPr>
              <a:t>Most of the revenue</a:t>
            </a:r>
            <a:r>
              <a:rPr lang="en-US" sz="2499">
                <a:solidFill>
                  <a:srgbClr val="F3F2F0"/>
                </a:solidFill>
                <a:latin typeface="Open Sauce"/>
                <a:ea typeface="Open Sauce"/>
                <a:cs typeface="Open Sauce"/>
                <a:sym typeface="Open Sauce"/>
              </a:rPr>
              <a:t> is generated by </a:t>
            </a:r>
            <a:r>
              <a:rPr lang="en-US" sz="2499" b="1">
                <a:solidFill>
                  <a:srgbClr val="F3F2F0"/>
                </a:solidFill>
                <a:latin typeface="Open Sauce Bold"/>
                <a:ea typeface="Open Sauce Bold"/>
                <a:cs typeface="Open Sauce Bold"/>
                <a:sym typeface="Open Sauce Bold"/>
              </a:rPr>
              <a:t>returning customers</a:t>
            </a:r>
            <a:r>
              <a:rPr lang="en-US" sz="2499">
                <a:solidFill>
                  <a:srgbClr val="F3F2F0"/>
                </a:solidFill>
                <a:latin typeface="Open Sauce"/>
                <a:ea typeface="Open Sauce"/>
                <a:cs typeface="Open Sauce"/>
                <a:sym typeface="Open Sauce"/>
              </a:rPr>
              <a:t>. Especially in April, there are no transactions coming from new customers.</a:t>
            </a:r>
          </a:p>
        </p:txBody>
      </p:sp>
      <p:sp>
        <p:nvSpPr>
          <p:cNvPr id="28" name="TextBox 28"/>
          <p:cNvSpPr txBox="1"/>
          <p:nvPr/>
        </p:nvSpPr>
        <p:spPr>
          <a:xfrm>
            <a:off x="8206027" y="650747"/>
            <a:ext cx="9465769" cy="1384300"/>
          </a:xfrm>
          <a:prstGeom prst="rect">
            <a:avLst/>
          </a:prstGeom>
        </p:spPr>
        <p:txBody>
          <a:bodyPr lIns="0" tIns="0" rIns="0" bIns="0" rtlCol="0" anchor="t">
            <a:spAutoFit/>
          </a:bodyPr>
          <a:lstStyle/>
          <a:p>
            <a:pPr algn="ctr">
              <a:lnSpc>
                <a:spcPts val="5599"/>
              </a:lnSpc>
            </a:pPr>
            <a:r>
              <a:rPr lang="en-US" sz="3999" b="1">
                <a:solidFill>
                  <a:srgbClr val="FFFFFF"/>
                </a:solidFill>
                <a:latin typeface="Open Sauce Bold"/>
                <a:ea typeface="Open Sauce Bold"/>
                <a:cs typeface="Open Sauce Bold"/>
                <a:sym typeface="Open Sauce Bold"/>
              </a:rPr>
              <a:t>CERTAIN FACTORS AFFECT REVENUE HEAVILY</a:t>
            </a:r>
          </a:p>
        </p:txBody>
      </p:sp>
      <p:sp>
        <p:nvSpPr>
          <p:cNvPr id="29" name="TextBox 29"/>
          <p:cNvSpPr txBox="1"/>
          <p:nvPr/>
        </p:nvSpPr>
        <p:spPr>
          <a:xfrm>
            <a:off x="8675623" y="2464367"/>
            <a:ext cx="8583677" cy="1298575"/>
          </a:xfrm>
          <a:prstGeom prst="rect">
            <a:avLst/>
          </a:prstGeom>
        </p:spPr>
        <p:txBody>
          <a:bodyPr lIns="0" tIns="0" rIns="0" bIns="0" rtlCol="0" anchor="t">
            <a:spAutoFit/>
          </a:bodyPr>
          <a:lstStyle/>
          <a:p>
            <a:pPr algn="just">
              <a:lnSpc>
                <a:spcPts val="3499"/>
              </a:lnSpc>
            </a:pPr>
            <a:r>
              <a:rPr lang="en-US" sz="2499" b="1">
                <a:solidFill>
                  <a:srgbClr val="F3F2F0"/>
                </a:solidFill>
                <a:latin typeface="Open Sauce Bold"/>
                <a:ea typeface="Open Sauce Bold"/>
                <a:cs typeface="Open Sauce Bold"/>
                <a:sym typeface="Open Sauce Bold"/>
              </a:rPr>
              <a:t>Over half of the revenue </a:t>
            </a:r>
            <a:r>
              <a:rPr lang="en-US" sz="2499">
                <a:solidFill>
                  <a:srgbClr val="F3F2F0"/>
                </a:solidFill>
                <a:latin typeface="Open Sauce"/>
                <a:ea typeface="Open Sauce"/>
                <a:cs typeface="Open Sauce"/>
                <a:sym typeface="Open Sauce"/>
              </a:rPr>
              <a:t>is from </a:t>
            </a:r>
            <a:r>
              <a:rPr lang="en-US" sz="2499" b="1">
                <a:solidFill>
                  <a:srgbClr val="F3F2F0"/>
                </a:solidFill>
                <a:latin typeface="Open Sauce Bold"/>
                <a:ea typeface="Open Sauce Bold"/>
                <a:cs typeface="Open Sauce Bold"/>
                <a:sym typeface="Open Sauce Bold"/>
              </a:rPr>
              <a:t>“Tiec”</a:t>
            </a:r>
            <a:r>
              <a:rPr lang="en-US" sz="2499">
                <a:solidFill>
                  <a:srgbClr val="F3F2F0"/>
                </a:solidFill>
                <a:latin typeface="Open Sauce"/>
                <a:ea typeface="Open Sauce"/>
                <a:cs typeface="Open Sauce"/>
                <a:sym typeface="Open Sauce"/>
              </a:rPr>
              <a:t> type. Everyday records purchases of product for “Tiec” and </a:t>
            </a:r>
            <a:r>
              <a:rPr lang="en-US" sz="2499" b="1">
                <a:solidFill>
                  <a:srgbClr val="F3F2F0"/>
                </a:solidFill>
                <a:latin typeface="Open Sauce Bold"/>
                <a:ea typeface="Open Sauce Bold"/>
                <a:cs typeface="Open Sauce Bold"/>
                <a:sym typeface="Open Sauce Bold"/>
              </a:rPr>
              <a:t>62% purchases</a:t>
            </a:r>
            <a:r>
              <a:rPr lang="en-US" sz="2499">
                <a:solidFill>
                  <a:srgbClr val="F3F2F0"/>
                </a:solidFill>
                <a:latin typeface="Open Sauce"/>
                <a:ea typeface="Open Sauce"/>
                <a:cs typeface="Open Sauce"/>
                <a:sym typeface="Open Sauce"/>
              </a:rPr>
              <a:t> include product from this type.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92961"/>
        </a:solidFill>
        <a:effectLst/>
      </p:bgPr>
    </p:bg>
    <p:spTree>
      <p:nvGrpSpPr>
        <p:cNvPr id="1" name=""/>
        <p:cNvGrpSpPr/>
        <p:nvPr/>
      </p:nvGrpSpPr>
      <p:grpSpPr>
        <a:xfrm>
          <a:off x="0" y="0"/>
          <a:ext cx="0" cy="0"/>
          <a:chOff x="0" y="0"/>
          <a:chExt cx="0" cy="0"/>
        </a:xfrm>
      </p:grpSpPr>
      <p:sp>
        <p:nvSpPr>
          <p:cNvPr id="2" name="AutoShape 2"/>
          <p:cNvSpPr/>
          <p:nvPr/>
        </p:nvSpPr>
        <p:spPr>
          <a:xfrm>
            <a:off x="153670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p:cNvSpPr/>
          <p:nvPr/>
        </p:nvSpPr>
        <p:spPr>
          <a:xfrm>
            <a:off x="802894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sp>
        <p:nvSpPr>
          <p:cNvPr id="4" name="AutoShape 4"/>
          <p:cNvSpPr/>
          <p:nvPr/>
        </p:nvSpPr>
        <p:spPr>
          <a:xfrm>
            <a:off x="1076706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5" name="Group 5"/>
          <p:cNvGrpSpPr/>
          <p:nvPr/>
        </p:nvGrpSpPr>
        <p:grpSpPr>
          <a:xfrm>
            <a:off x="1536700" y="8925252"/>
            <a:ext cx="337802" cy="33780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5382900" y="8920498"/>
            <a:ext cx="337802" cy="337802"/>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9229099" y="8920498"/>
            <a:ext cx="337802" cy="337802"/>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6921498" y="8920498"/>
            <a:ext cx="337802" cy="33780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3112256" y="8920498"/>
            <a:ext cx="337802" cy="33780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0" name="Freeform 20"/>
          <p:cNvSpPr/>
          <p:nvPr/>
        </p:nvSpPr>
        <p:spPr>
          <a:xfrm>
            <a:off x="1028700" y="1028700"/>
            <a:ext cx="7000240" cy="3985285"/>
          </a:xfrm>
          <a:custGeom>
            <a:avLst/>
            <a:gdLst/>
            <a:ahLst/>
            <a:cxnLst/>
            <a:rect l="l" t="t" r="r" b="b"/>
            <a:pathLst>
              <a:path w="7000240" h="3985285">
                <a:moveTo>
                  <a:pt x="0" y="0"/>
                </a:moveTo>
                <a:lnTo>
                  <a:pt x="7000240" y="0"/>
                </a:lnTo>
                <a:lnTo>
                  <a:pt x="7000240" y="3985285"/>
                </a:lnTo>
                <a:lnTo>
                  <a:pt x="0" y="3985285"/>
                </a:lnTo>
                <a:lnTo>
                  <a:pt x="0" y="0"/>
                </a:lnTo>
                <a:close/>
              </a:path>
            </a:pathLst>
          </a:custGeom>
          <a:blipFill>
            <a:blip r:embed="rId2"/>
            <a:stretch>
              <a:fillRect/>
            </a:stretch>
          </a:blipFill>
        </p:spPr>
        <p:txBody>
          <a:bodyPr/>
          <a:lstStyle/>
          <a:p>
            <a:endParaRPr lang="en-US"/>
          </a:p>
        </p:txBody>
      </p:sp>
      <p:sp>
        <p:nvSpPr>
          <p:cNvPr id="21" name="Freeform 21"/>
          <p:cNvSpPr/>
          <p:nvPr/>
        </p:nvSpPr>
        <p:spPr>
          <a:xfrm>
            <a:off x="9307619" y="3924322"/>
            <a:ext cx="7782780" cy="4402381"/>
          </a:xfrm>
          <a:custGeom>
            <a:avLst/>
            <a:gdLst/>
            <a:ahLst/>
            <a:cxnLst/>
            <a:rect l="l" t="t" r="r" b="b"/>
            <a:pathLst>
              <a:path w="7782780" h="4402381">
                <a:moveTo>
                  <a:pt x="0" y="0"/>
                </a:moveTo>
                <a:lnTo>
                  <a:pt x="7782780" y="0"/>
                </a:lnTo>
                <a:lnTo>
                  <a:pt x="7782780" y="4402381"/>
                </a:lnTo>
                <a:lnTo>
                  <a:pt x="0" y="4402381"/>
                </a:lnTo>
                <a:lnTo>
                  <a:pt x="0" y="0"/>
                </a:lnTo>
                <a:close/>
              </a:path>
            </a:pathLst>
          </a:custGeom>
          <a:blipFill>
            <a:blip r:embed="rId3"/>
            <a:stretch>
              <a:fillRect/>
            </a:stretch>
          </a:blipFill>
        </p:spPr>
        <p:txBody>
          <a:bodyPr/>
          <a:lstStyle/>
          <a:p>
            <a:endParaRPr lang="en-US"/>
          </a:p>
        </p:txBody>
      </p:sp>
      <p:sp>
        <p:nvSpPr>
          <p:cNvPr id="22" name="TextBox 22"/>
          <p:cNvSpPr txBox="1"/>
          <p:nvPr/>
        </p:nvSpPr>
        <p:spPr>
          <a:xfrm>
            <a:off x="969794" y="9365846"/>
            <a:ext cx="1575429" cy="328295"/>
          </a:xfrm>
          <a:prstGeom prst="rect">
            <a:avLst/>
          </a:prstGeom>
        </p:spPr>
        <p:txBody>
          <a:bodyPr wrap="square" lIns="0" tIns="0" rIns="0" bIns="0" rtlCol="0" anchor="t">
            <a:spAutoFit/>
          </a:bodyPr>
          <a:lstStyle/>
          <a:p>
            <a:pPr algn="ctr">
              <a:lnSpc>
                <a:spcPts val="2800"/>
              </a:lnSpc>
            </a:pPr>
            <a:r>
              <a:rPr lang="en-US" sz="2000" dirty="0">
                <a:solidFill>
                  <a:srgbClr val="FFFFFF"/>
                </a:solidFill>
                <a:latin typeface="Open Sauce"/>
                <a:ea typeface="Open Sauce"/>
                <a:cs typeface="Open Sauce"/>
                <a:sym typeface="Open Sauce"/>
              </a:rPr>
              <a:t>Background</a:t>
            </a:r>
          </a:p>
        </p:txBody>
      </p:sp>
      <p:sp>
        <p:nvSpPr>
          <p:cNvPr id="23" name="TextBox 23"/>
          <p:cNvSpPr txBox="1"/>
          <p:nvPr/>
        </p:nvSpPr>
        <p:spPr>
          <a:xfrm>
            <a:off x="4825370" y="9365846"/>
            <a:ext cx="1575430" cy="328295"/>
          </a:xfrm>
          <a:prstGeom prst="rect">
            <a:avLst/>
          </a:prstGeom>
        </p:spPr>
        <p:txBody>
          <a:bodyPr wrap="square" lIns="0" tIns="0" rIns="0" bIns="0" rtlCol="0" anchor="t">
            <a:spAutoFit/>
          </a:bodyPr>
          <a:lstStyle/>
          <a:p>
            <a:pPr algn="ctr">
              <a:lnSpc>
                <a:spcPts val="2800"/>
              </a:lnSpc>
            </a:pPr>
            <a:r>
              <a:rPr lang="en-US" sz="2000" dirty="0">
                <a:solidFill>
                  <a:srgbClr val="FFFFFF"/>
                </a:solidFill>
                <a:latin typeface="Open Sauce"/>
                <a:ea typeface="Open Sauce"/>
                <a:cs typeface="Open Sauce"/>
                <a:sym typeface="Open Sauce"/>
              </a:rPr>
              <a:t>Key </a:t>
            </a:r>
            <a:r>
              <a:rPr lang="en-US" sz="2000" dirty="0" err="1">
                <a:solidFill>
                  <a:srgbClr val="FFFFFF"/>
                </a:solidFill>
                <a:latin typeface="Open Sauce"/>
                <a:ea typeface="Open Sauce"/>
                <a:cs typeface="Open Sauce"/>
                <a:sym typeface="Open Sauce"/>
              </a:rPr>
              <a:t>isssues</a:t>
            </a:r>
            <a:endParaRPr lang="en-US" sz="2000" dirty="0">
              <a:solidFill>
                <a:srgbClr val="FFFFFF"/>
              </a:solidFill>
              <a:latin typeface="Open Sauce"/>
              <a:ea typeface="Open Sauce"/>
              <a:cs typeface="Open Sauce"/>
              <a:sym typeface="Open Sauce"/>
            </a:endParaRPr>
          </a:p>
        </p:txBody>
      </p:sp>
      <p:sp>
        <p:nvSpPr>
          <p:cNvPr id="24" name="TextBox 24"/>
          <p:cNvSpPr txBox="1"/>
          <p:nvPr/>
        </p:nvSpPr>
        <p:spPr>
          <a:xfrm>
            <a:off x="8866758" y="9365846"/>
            <a:ext cx="1062484" cy="328295"/>
          </a:xfrm>
          <a:prstGeom prst="rect">
            <a:avLst/>
          </a:prstGeom>
        </p:spPr>
        <p:txBody>
          <a:bodyPr lIns="0" tIns="0" rIns="0" bIns="0" rtlCol="0" anchor="t">
            <a:spAutoFit/>
          </a:bodyPr>
          <a:lstStyle/>
          <a:p>
            <a:pPr algn="ctr">
              <a:lnSpc>
                <a:spcPts val="2800"/>
              </a:lnSpc>
            </a:pPr>
            <a:r>
              <a:rPr lang="en-US" sz="2000" b="1" dirty="0">
                <a:solidFill>
                  <a:srgbClr val="FFFFFF"/>
                </a:solidFill>
                <a:highlight>
                  <a:srgbClr val="000000"/>
                </a:highlight>
                <a:latin typeface="Open Sauce Bold"/>
                <a:ea typeface="Open Sauce Bold"/>
                <a:cs typeface="Open Sauce Bold"/>
                <a:sym typeface="Open Sauce Bold"/>
              </a:rPr>
              <a:t>Analysis</a:t>
            </a:r>
          </a:p>
        </p:txBody>
      </p:sp>
      <p:sp>
        <p:nvSpPr>
          <p:cNvPr id="25" name="TextBox 25"/>
          <p:cNvSpPr txBox="1"/>
          <p:nvPr/>
        </p:nvSpPr>
        <p:spPr>
          <a:xfrm>
            <a:off x="12197762" y="9350209"/>
            <a:ext cx="2204038" cy="328295"/>
          </a:xfrm>
          <a:prstGeom prst="rect">
            <a:avLst/>
          </a:prstGeom>
        </p:spPr>
        <p:txBody>
          <a:bodyPr wrap="square" lIns="0" tIns="0" rIns="0" bIns="0" rtlCol="0" anchor="t">
            <a:spAutoFit/>
          </a:bodyPr>
          <a:lstStyle/>
          <a:p>
            <a:pPr algn="ctr">
              <a:lnSpc>
                <a:spcPts val="2800"/>
              </a:lnSpc>
            </a:pPr>
            <a:r>
              <a:rPr lang="en-US" sz="2000" dirty="0">
                <a:solidFill>
                  <a:srgbClr val="EAEAE2"/>
                </a:solidFill>
                <a:latin typeface="Open Sauce"/>
                <a:ea typeface="Open Sauce"/>
                <a:cs typeface="Open Sauce"/>
                <a:sym typeface="Open Sauce"/>
              </a:rPr>
              <a:t>Recommendation</a:t>
            </a:r>
          </a:p>
        </p:txBody>
      </p:sp>
      <p:sp>
        <p:nvSpPr>
          <p:cNvPr id="26" name="TextBox 26"/>
          <p:cNvSpPr txBox="1"/>
          <p:nvPr/>
        </p:nvSpPr>
        <p:spPr>
          <a:xfrm>
            <a:off x="16509002" y="9350209"/>
            <a:ext cx="1162794" cy="349250"/>
          </a:xfrm>
          <a:prstGeom prst="rect">
            <a:avLst/>
          </a:prstGeom>
        </p:spPr>
        <p:txBody>
          <a:bodyPr lIns="0" tIns="0" rIns="0" bIns="0" rtlCol="0" anchor="t">
            <a:spAutoFit/>
          </a:bodyPr>
          <a:lstStyle/>
          <a:p>
            <a:pPr algn="ctr">
              <a:lnSpc>
                <a:spcPts val="2800"/>
              </a:lnSpc>
            </a:pPr>
            <a:r>
              <a:rPr lang="en-US" sz="2000">
                <a:solidFill>
                  <a:srgbClr val="EAEAE2"/>
                </a:solidFill>
                <a:latin typeface="Open Sauce"/>
                <a:ea typeface="Open Sauce"/>
                <a:cs typeface="Open Sauce"/>
                <a:sym typeface="Open Sauce"/>
              </a:rPr>
              <a:t>Appendix</a:t>
            </a:r>
          </a:p>
        </p:txBody>
      </p:sp>
      <p:sp>
        <p:nvSpPr>
          <p:cNvPr id="27" name="TextBox 27"/>
          <p:cNvSpPr txBox="1"/>
          <p:nvPr/>
        </p:nvSpPr>
        <p:spPr>
          <a:xfrm>
            <a:off x="1028700" y="5460788"/>
            <a:ext cx="7000240" cy="2613025"/>
          </a:xfrm>
          <a:prstGeom prst="rect">
            <a:avLst/>
          </a:prstGeom>
        </p:spPr>
        <p:txBody>
          <a:bodyPr lIns="0" tIns="0" rIns="0" bIns="0" rtlCol="0" anchor="t">
            <a:spAutoFit/>
          </a:bodyPr>
          <a:lstStyle/>
          <a:p>
            <a:pPr algn="just">
              <a:lnSpc>
                <a:spcPts val="3499"/>
              </a:lnSpc>
            </a:pPr>
            <a:r>
              <a:rPr lang="en-US" sz="2499">
                <a:solidFill>
                  <a:srgbClr val="F3F2F0"/>
                </a:solidFill>
                <a:latin typeface="Open Sauce"/>
                <a:ea typeface="Open Sauce"/>
                <a:cs typeface="Open Sauce"/>
                <a:sym typeface="Open Sauce"/>
              </a:rPr>
              <a:t>The number of </a:t>
            </a:r>
            <a:r>
              <a:rPr lang="en-US" sz="2499" b="1">
                <a:solidFill>
                  <a:srgbClr val="F3F2F0"/>
                </a:solidFill>
                <a:latin typeface="Open Sauce Bold"/>
                <a:ea typeface="Open Sauce Bold"/>
                <a:cs typeface="Open Sauce Bold"/>
                <a:sym typeface="Open Sauce Bold"/>
              </a:rPr>
              <a:t>purchases </a:t>
            </a:r>
            <a:r>
              <a:rPr lang="en-US" sz="2499">
                <a:solidFill>
                  <a:srgbClr val="F3F2F0"/>
                </a:solidFill>
                <a:latin typeface="Open Sauce"/>
                <a:ea typeface="Open Sauce"/>
                <a:cs typeface="Open Sauce"/>
                <a:sym typeface="Open Sauce"/>
              </a:rPr>
              <a:t>has a </a:t>
            </a:r>
            <a:r>
              <a:rPr lang="en-US" sz="2499" b="1">
                <a:solidFill>
                  <a:srgbClr val="F3F2F0"/>
                </a:solidFill>
                <a:latin typeface="Open Sauce Bold"/>
                <a:ea typeface="Open Sauce Bold"/>
                <a:cs typeface="Open Sauce Bold"/>
                <a:sym typeface="Open Sauce Bold"/>
              </a:rPr>
              <a:t>positive correlation</a:t>
            </a:r>
            <a:r>
              <a:rPr lang="en-US" sz="2499">
                <a:solidFill>
                  <a:srgbClr val="F3F2F0"/>
                </a:solidFill>
                <a:latin typeface="Open Sauce"/>
                <a:ea typeface="Open Sauce"/>
                <a:cs typeface="Open Sauce"/>
                <a:sym typeface="Open Sauce"/>
              </a:rPr>
              <a:t> with</a:t>
            </a:r>
            <a:r>
              <a:rPr lang="en-US" sz="2499" b="1">
                <a:solidFill>
                  <a:srgbClr val="F3F2F0"/>
                </a:solidFill>
                <a:latin typeface="Open Sauce Bold"/>
                <a:ea typeface="Open Sauce Bold"/>
                <a:cs typeface="Open Sauce Bold"/>
                <a:sym typeface="Open Sauce Bold"/>
              </a:rPr>
              <a:t> </a:t>
            </a:r>
            <a:r>
              <a:rPr lang="en-US" sz="2499">
                <a:solidFill>
                  <a:srgbClr val="F3F2F0"/>
                </a:solidFill>
                <a:latin typeface="Open Sauce"/>
                <a:ea typeface="Open Sauce"/>
                <a:cs typeface="Open Sauce"/>
                <a:sym typeface="Open Sauce"/>
              </a:rPr>
              <a:t>the </a:t>
            </a:r>
            <a:r>
              <a:rPr lang="en-US" sz="2499" b="1">
                <a:solidFill>
                  <a:srgbClr val="F3F2F0"/>
                </a:solidFill>
                <a:latin typeface="Open Sauce Bold"/>
                <a:ea typeface="Open Sauce Bold"/>
                <a:cs typeface="Open Sauce Bold"/>
                <a:sym typeface="Open Sauce Bold"/>
              </a:rPr>
              <a:t>revenue</a:t>
            </a:r>
            <a:r>
              <a:rPr lang="en-US" sz="2499">
                <a:solidFill>
                  <a:srgbClr val="F3F2F0"/>
                </a:solidFill>
                <a:latin typeface="Open Sauce"/>
                <a:ea typeface="Open Sauce"/>
                <a:cs typeface="Open Sauce"/>
                <a:sym typeface="Open Sauce"/>
              </a:rPr>
              <a:t>. The most revenue comes from “Tiec” type products can be explained by </a:t>
            </a:r>
            <a:r>
              <a:rPr lang="en-US" sz="2499" b="1">
                <a:solidFill>
                  <a:srgbClr val="F3F2F0"/>
                </a:solidFill>
                <a:latin typeface="Open Sauce Bold"/>
                <a:ea typeface="Open Sauce Bold"/>
                <a:cs typeface="Open Sauce Bold"/>
                <a:sym typeface="Open Sauce Bold"/>
              </a:rPr>
              <a:t>customer preferences</a:t>
            </a:r>
            <a:r>
              <a:rPr lang="en-US" sz="2499">
                <a:solidFill>
                  <a:srgbClr val="F3F2F0"/>
                </a:solidFill>
                <a:latin typeface="Open Sauce"/>
                <a:ea typeface="Open Sauce"/>
                <a:cs typeface="Open Sauce"/>
                <a:sym typeface="Open Sauce"/>
              </a:rPr>
              <a:t> and also the </a:t>
            </a:r>
            <a:r>
              <a:rPr lang="en-US" sz="2499" b="1">
                <a:solidFill>
                  <a:srgbClr val="F3F2F0"/>
                </a:solidFill>
                <a:latin typeface="Open Sauce Bold"/>
                <a:ea typeface="Open Sauce Bold"/>
                <a:cs typeface="Open Sauce Bold"/>
                <a:sym typeface="Open Sauce Bold"/>
              </a:rPr>
              <a:t>large amount of products</a:t>
            </a:r>
            <a:r>
              <a:rPr lang="en-US" sz="2499">
                <a:solidFill>
                  <a:srgbClr val="F3F2F0"/>
                </a:solidFill>
                <a:latin typeface="Open Sauce"/>
                <a:ea typeface="Open Sauce"/>
                <a:cs typeface="Open Sauce"/>
                <a:sym typeface="Open Sauce"/>
              </a:rPr>
              <a:t> (SKU_1) from that type.</a:t>
            </a:r>
          </a:p>
        </p:txBody>
      </p:sp>
      <p:sp>
        <p:nvSpPr>
          <p:cNvPr id="28" name="TextBox 28"/>
          <p:cNvSpPr txBox="1"/>
          <p:nvPr/>
        </p:nvSpPr>
        <p:spPr>
          <a:xfrm>
            <a:off x="8206027" y="650747"/>
            <a:ext cx="9465769" cy="1384300"/>
          </a:xfrm>
          <a:prstGeom prst="rect">
            <a:avLst/>
          </a:prstGeom>
        </p:spPr>
        <p:txBody>
          <a:bodyPr lIns="0" tIns="0" rIns="0" bIns="0" rtlCol="0" anchor="t">
            <a:spAutoFit/>
          </a:bodyPr>
          <a:lstStyle/>
          <a:p>
            <a:pPr algn="ctr">
              <a:lnSpc>
                <a:spcPts val="5599"/>
              </a:lnSpc>
            </a:pPr>
            <a:r>
              <a:rPr lang="en-US" sz="3999" b="1">
                <a:solidFill>
                  <a:srgbClr val="FFFFFF"/>
                </a:solidFill>
                <a:latin typeface="Open Sauce Bold"/>
                <a:ea typeface="Open Sauce Bold"/>
                <a:cs typeface="Open Sauce Bold"/>
                <a:sym typeface="Open Sauce Bold"/>
              </a:rPr>
              <a:t>CERTAIN FACTORS AFFECT REVENUE HEAVILY</a:t>
            </a:r>
          </a:p>
        </p:txBody>
      </p:sp>
      <p:sp>
        <p:nvSpPr>
          <p:cNvPr id="29" name="TextBox 29"/>
          <p:cNvSpPr txBox="1"/>
          <p:nvPr/>
        </p:nvSpPr>
        <p:spPr>
          <a:xfrm>
            <a:off x="9220200" y="2234163"/>
            <a:ext cx="7870199" cy="1298575"/>
          </a:xfrm>
          <a:prstGeom prst="rect">
            <a:avLst/>
          </a:prstGeom>
        </p:spPr>
        <p:txBody>
          <a:bodyPr lIns="0" tIns="0" rIns="0" bIns="0" rtlCol="0" anchor="t">
            <a:spAutoFit/>
          </a:bodyPr>
          <a:lstStyle/>
          <a:p>
            <a:pPr algn="just">
              <a:lnSpc>
                <a:spcPts val="3499"/>
              </a:lnSpc>
            </a:pPr>
            <a:r>
              <a:rPr lang="en-US" sz="2499">
                <a:solidFill>
                  <a:srgbClr val="F3F2F0"/>
                </a:solidFill>
                <a:latin typeface="Open Sauce"/>
                <a:ea typeface="Open Sauce"/>
                <a:cs typeface="Open Sauce"/>
                <a:sym typeface="Open Sauce"/>
              </a:rPr>
              <a:t>As there are </a:t>
            </a:r>
            <a:r>
              <a:rPr lang="en-US" sz="2499" b="1">
                <a:solidFill>
                  <a:srgbClr val="F3F2F0"/>
                </a:solidFill>
                <a:latin typeface="Open Sauce Bold"/>
                <a:ea typeface="Open Sauce Bold"/>
                <a:cs typeface="Open Sauce Bold"/>
                <a:sym typeface="Open Sauce Bold"/>
              </a:rPr>
              <a:t>more options</a:t>
            </a:r>
            <a:r>
              <a:rPr lang="en-US" sz="2499">
                <a:solidFill>
                  <a:srgbClr val="F3F2F0"/>
                </a:solidFill>
                <a:latin typeface="Open Sauce"/>
                <a:ea typeface="Open Sauce"/>
                <a:cs typeface="Open Sauce"/>
                <a:sym typeface="Open Sauce"/>
              </a:rPr>
              <a:t> for customers in a particular type, that type may </a:t>
            </a:r>
            <a:r>
              <a:rPr lang="en-US" sz="2499" b="1">
                <a:solidFill>
                  <a:srgbClr val="F3F2F0"/>
                </a:solidFill>
                <a:latin typeface="Open Sauce Bold"/>
                <a:ea typeface="Open Sauce Bold"/>
                <a:cs typeface="Open Sauce Bold"/>
                <a:sym typeface="Open Sauce Bold"/>
              </a:rPr>
              <a:t>drive more revenu</a:t>
            </a:r>
            <a:r>
              <a:rPr lang="en-US" sz="2499">
                <a:solidFill>
                  <a:srgbClr val="F3F2F0"/>
                </a:solidFill>
                <a:latin typeface="Open Sauce"/>
                <a:ea typeface="Open Sauce"/>
                <a:cs typeface="Open Sauce"/>
                <a:sym typeface="Open Sauce"/>
              </a:rPr>
              <a:t>e than others.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92961"/>
        </a:solidFill>
        <a:effectLst/>
      </p:bgPr>
    </p:bg>
    <p:spTree>
      <p:nvGrpSpPr>
        <p:cNvPr id="1" name=""/>
        <p:cNvGrpSpPr/>
        <p:nvPr/>
      </p:nvGrpSpPr>
      <p:grpSpPr>
        <a:xfrm>
          <a:off x="0" y="0"/>
          <a:ext cx="0" cy="0"/>
          <a:chOff x="0" y="0"/>
          <a:chExt cx="0" cy="0"/>
        </a:xfrm>
      </p:grpSpPr>
      <p:sp>
        <p:nvSpPr>
          <p:cNvPr id="2" name="AutoShape 2"/>
          <p:cNvSpPr/>
          <p:nvPr/>
        </p:nvSpPr>
        <p:spPr>
          <a:xfrm>
            <a:off x="153670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p:cNvSpPr/>
          <p:nvPr/>
        </p:nvSpPr>
        <p:spPr>
          <a:xfrm>
            <a:off x="802894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sp>
        <p:nvSpPr>
          <p:cNvPr id="4" name="AutoShape 4"/>
          <p:cNvSpPr/>
          <p:nvPr/>
        </p:nvSpPr>
        <p:spPr>
          <a:xfrm>
            <a:off x="1076706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5" name="Group 5"/>
          <p:cNvGrpSpPr/>
          <p:nvPr/>
        </p:nvGrpSpPr>
        <p:grpSpPr>
          <a:xfrm>
            <a:off x="1536700" y="8925252"/>
            <a:ext cx="337802" cy="33780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5382900" y="8920498"/>
            <a:ext cx="337802" cy="337802"/>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9229099" y="8920498"/>
            <a:ext cx="337802" cy="337802"/>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6921498" y="8920498"/>
            <a:ext cx="337802" cy="33780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3112256" y="8920498"/>
            <a:ext cx="337802" cy="33780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0" name="Freeform 20"/>
          <p:cNvSpPr/>
          <p:nvPr/>
        </p:nvSpPr>
        <p:spPr>
          <a:xfrm>
            <a:off x="1574170" y="726947"/>
            <a:ext cx="6502400" cy="6333835"/>
          </a:xfrm>
          <a:custGeom>
            <a:avLst/>
            <a:gdLst/>
            <a:ahLst/>
            <a:cxnLst/>
            <a:rect l="l" t="t" r="r" b="b"/>
            <a:pathLst>
              <a:path w="6502400" h="6333835">
                <a:moveTo>
                  <a:pt x="0" y="0"/>
                </a:moveTo>
                <a:lnTo>
                  <a:pt x="6502400" y="0"/>
                </a:lnTo>
                <a:lnTo>
                  <a:pt x="6502400" y="6333834"/>
                </a:lnTo>
                <a:lnTo>
                  <a:pt x="0" y="6333834"/>
                </a:lnTo>
                <a:lnTo>
                  <a:pt x="0" y="0"/>
                </a:lnTo>
                <a:close/>
              </a:path>
            </a:pathLst>
          </a:custGeom>
          <a:blipFill>
            <a:blip r:embed="rId2"/>
            <a:stretch>
              <a:fillRect t="-496" b="-496"/>
            </a:stretch>
          </a:blipFill>
        </p:spPr>
        <p:txBody>
          <a:bodyPr/>
          <a:lstStyle/>
          <a:p>
            <a:endParaRPr lang="en-US"/>
          </a:p>
        </p:txBody>
      </p:sp>
      <p:sp>
        <p:nvSpPr>
          <p:cNvPr id="21" name="Freeform 21"/>
          <p:cNvSpPr/>
          <p:nvPr/>
        </p:nvSpPr>
        <p:spPr>
          <a:xfrm>
            <a:off x="9903611" y="2441672"/>
            <a:ext cx="6070600" cy="3689459"/>
          </a:xfrm>
          <a:custGeom>
            <a:avLst/>
            <a:gdLst/>
            <a:ahLst/>
            <a:cxnLst/>
            <a:rect l="l" t="t" r="r" b="b"/>
            <a:pathLst>
              <a:path w="6070600" h="3689459">
                <a:moveTo>
                  <a:pt x="0" y="0"/>
                </a:moveTo>
                <a:lnTo>
                  <a:pt x="6070600" y="0"/>
                </a:lnTo>
                <a:lnTo>
                  <a:pt x="6070600" y="3689460"/>
                </a:lnTo>
                <a:lnTo>
                  <a:pt x="0" y="3689460"/>
                </a:lnTo>
                <a:lnTo>
                  <a:pt x="0" y="0"/>
                </a:lnTo>
                <a:close/>
              </a:path>
            </a:pathLst>
          </a:custGeom>
          <a:blipFill>
            <a:blip r:embed="rId3"/>
            <a:stretch>
              <a:fillRect/>
            </a:stretch>
          </a:blipFill>
        </p:spPr>
        <p:txBody>
          <a:bodyPr/>
          <a:lstStyle/>
          <a:p>
            <a:endParaRPr lang="en-US"/>
          </a:p>
        </p:txBody>
      </p:sp>
      <p:sp>
        <p:nvSpPr>
          <p:cNvPr id="22" name="TextBox 22"/>
          <p:cNvSpPr txBox="1"/>
          <p:nvPr/>
        </p:nvSpPr>
        <p:spPr>
          <a:xfrm>
            <a:off x="969794" y="9365845"/>
            <a:ext cx="1587055" cy="328295"/>
          </a:xfrm>
          <a:prstGeom prst="rect">
            <a:avLst/>
          </a:prstGeom>
        </p:spPr>
        <p:txBody>
          <a:bodyPr wrap="square" lIns="0" tIns="0" rIns="0" bIns="0" rtlCol="0" anchor="t">
            <a:spAutoFit/>
          </a:bodyPr>
          <a:lstStyle/>
          <a:p>
            <a:pPr algn="ctr">
              <a:lnSpc>
                <a:spcPts val="2800"/>
              </a:lnSpc>
            </a:pPr>
            <a:r>
              <a:rPr lang="en-US" sz="2000" dirty="0">
                <a:solidFill>
                  <a:srgbClr val="FFFFFF"/>
                </a:solidFill>
                <a:latin typeface="Open Sauce"/>
                <a:ea typeface="Open Sauce"/>
                <a:cs typeface="Open Sauce"/>
                <a:sym typeface="Open Sauce"/>
              </a:rPr>
              <a:t>Background</a:t>
            </a:r>
          </a:p>
        </p:txBody>
      </p:sp>
      <p:sp>
        <p:nvSpPr>
          <p:cNvPr id="23" name="TextBox 23"/>
          <p:cNvSpPr txBox="1"/>
          <p:nvPr/>
        </p:nvSpPr>
        <p:spPr>
          <a:xfrm>
            <a:off x="4825370" y="9365845"/>
            <a:ext cx="1499230" cy="328295"/>
          </a:xfrm>
          <a:prstGeom prst="rect">
            <a:avLst/>
          </a:prstGeom>
        </p:spPr>
        <p:txBody>
          <a:bodyPr wrap="square" lIns="0" tIns="0" rIns="0" bIns="0" rtlCol="0" anchor="t">
            <a:spAutoFit/>
          </a:bodyPr>
          <a:lstStyle/>
          <a:p>
            <a:pPr algn="ctr">
              <a:lnSpc>
                <a:spcPts val="2800"/>
              </a:lnSpc>
            </a:pPr>
            <a:r>
              <a:rPr lang="en-US" sz="2000" dirty="0">
                <a:solidFill>
                  <a:srgbClr val="FFFFFF"/>
                </a:solidFill>
                <a:latin typeface="Open Sauce"/>
                <a:ea typeface="Open Sauce"/>
                <a:cs typeface="Open Sauce"/>
                <a:sym typeface="Open Sauce"/>
              </a:rPr>
              <a:t>Key </a:t>
            </a:r>
            <a:r>
              <a:rPr lang="en-US" sz="2000" dirty="0" err="1">
                <a:solidFill>
                  <a:srgbClr val="FFFFFF"/>
                </a:solidFill>
                <a:latin typeface="Open Sauce"/>
                <a:ea typeface="Open Sauce"/>
                <a:cs typeface="Open Sauce"/>
                <a:sym typeface="Open Sauce"/>
              </a:rPr>
              <a:t>isssues</a:t>
            </a:r>
            <a:endParaRPr lang="en-US" sz="2000" dirty="0">
              <a:solidFill>
                <a:srgbClr val="FFFFFF"/>
              </a:solidFill>
              <a:latin typeface="Open Sauce"/>
              <a:ea typeface="Open Sauce"/>
              <a:cs typeface="Open Sauce"/>
              <a:sym typeface="Open Sauce"/>
            </a:endParaRPr>
          </a:p>
        </p:txBody>
      </p:sp>
      <p:sp>
        <p:nvSpPr>
          <p:cNvPr id="24" name="TextBox 24"/>
          <p:cNvSpPr txBox="1"/>
          <p:nvPr/>
        </p:nvSpPr>
        <p:spPr>
          <a:xfrm>
            <a:off x="8866758" y="9365846"/>
            <a:ext cx="1062484" cy="328295"/>
          </a:xfrm>
          <a:prstGeom prst="rect">
            <a:avLst/>
          </a:prstGeom>
        </p:spPr>
        <p:txBody>
          <a:bodyPr lIns="0" tIns="0" rIns="0" bIns="0" rtlCol="0" anchor="t">
            <a:spAutoFit/>
          </a:bodyPr>
          <a:lstStyle/>
          <a:p>
            <a:pPr algn="ctr">
              <a:lnSpc>
                <a:spcPts val="2800"/>
              </a:lnSpc>
            </a:pPr>
            <a:r>
              <a:rPr lang="en-US" sz="2000" b="1" dirty="0">
                <a:solidFill>
                  <a:srgbClr val="FFFFFF"/>
                </a:solidFill>
                <a:highlight>
                  <a:srgbClr val="000000"/>
                </a:highlight>
                <a:latin typeface="Open Sauce Bold"/>
                <a:ea typeface="Open Sauce Bold"/>
                <a:cs typeface="Open Sauce Bold"/>
                <a:sym typeface="Open Sauce Bold"/>
              </a:rPr>
              <a:t>Analysis</a:t>
            </a:r>
          </a:p>
        </p:txBody>
      </p:sp>
      <p:sp>
        <p:nvSpPr>
          <p:cNvPr id="25" name="TextBox 25"/>
          <p:cNvSpPr txBox="1"/>
          <p:nvPr/>
        </p:nvSpPr>
        <p:spPr>
          <a:xfrm>
            <a:off x="12197762" y="9350208"/>
            <a:ext cx="2204038" cy="328295"/>
          </a:xfrm>
          <a:prstGeom prst="rect">
            <a:avLst/>
          </a:prstGeom>
        </p:spPr>
        <p:txBody>
          <a:bodyPr wrap="square" lIns="0" tIns="0" rIns="0" bIns="0" rtlCol="0" anchor="t">
            <a:spAutoFit/>
          </a:bodyPr>
          <a:lstStyle/>
          <a:p>
            <a:pPr algn="ctr">
              <a:lnSpc>
                <a:spcPts val="2800"/>
              </a:lnSpc>
            </a:pPr>
            <a:r>
              <a:rPr lang="en-US" sz="2000" dirty="0">
                <a:solidFill>
                  <a:srgbClr val="EAEAE2"/>
                </a:solidFill>
                <a:latin typeface="Open Sauce"/>
                <a:ea typeface="Open Sauce"/>
                <a:cs typeface="Open Sauce"/>
                <a:sym typeface="Open Sauce"/>
              </a:rPr>
              <a:t>Recommendation</a:t>
            </a:r>
          </a:p>
        </p:txBody>
      </p:sp>
      <p:sp>
        <p:nvSpPr>
          <p:cNvPr id="26" name="TextBox 26"/>
          <p:cNvSpPr txBox="1"/>
          <p:nvPr/>
        </p:nvSpPr>
        <p:spPr>
          <a:xfrm>
            <a:off x="16509002" y="9350209"/>
            <a:ext cx="1162794" cy="349250"/>
          </a:xfrm>
          <a:prstGeom prst="rect">
            <a:avLst/>
          </a:prstGeom>
        </p:spPr>
        <p:txBody>
          <a:bodyPr lIns="0" tIns="0" rIns="0" bIns="0" rtlCol="0" anchor="t">
            <a:spAutoFit/>
          </a:bodyPr>
          <a:lstStyle/>
          <a:p>
            <a:pPr algn="ctr">
              <a:lnSpc>
                <a:spcPts val="2800"/>
              </a:lnSpc>
            </a:pPr>
            <a:r>
              <a:rPr lang="en-US" sz="2000">
                <a:solidFill>
                  <a:srgbClr val="EAEAE2"/>
                </a:solidFill>
                <a:latin typeface="Open Sauce"/>
                <a:ea typeface="Open Sauce"/>
                <a:cs typeface="Open Sauce"/>
                <a:sym typeface="Open Sauce"/>
              </a:rPr>
              <a:t>Appendix</a:t>
            </a:r>
          </a:p>
        </p:txBody>
      </p:sp>
      <p:sp>
        <p:nvSpPr>
          <p:cNvPr id="27" name="TextBox 27"/>
          <p:cNvSpPr txBox="1"/>
          <p:nvPr/>
        </p:nvSpPr>
        <p:spPr>
          <a:xfrm>
            <a:off x="9508762" y="6490132"/>
            <a:ext cx="7000240" cy="1736725"/>
          </a:xfrm>
          <a:prstGeom prst="rect">
            <a:avLst/>
          </a:prstGeom>
        </p:spPr>
        <p:txBody>
          <a:bodyPr lIns="0" tIns="0" rIns="0" bIns="0" rtlCol="0" anchor="t">
            <a:spAutoFit/>
          </a:bodyPr>
          <a:lstStyle/>
          <a:p>
            <a:pPr algn="just">
              <a:lnSpc>
                <a:spcPts val="3499"/>
              </a:lnSpc>
            </a:pPr>
            <a:r>
              <a:rPr lang="en-US" sz="2499">
                <a:solidFill>
                  <a:srgbClr val="F3F2F0"/>
                </a:solidFill>
                <a:latin typeface="Open Sauce"/>
                <a:ea typeface="Open Sauce"/>
                <a:cs typeface="Open Sauce"/>
                <a:sym typeface="Open Sauce"/>
              </a:rPr>
              <a:t>“Dam” contributed the most revenue because the product had designs for numerous purposes, from casual to professional ocassions.</a:t>
            </a:r>
          </a:p>
        </p:txBody>
      </p:sp>
      <p:sp>
        <p:nvSpPr>
          <p:cNvPr id="28" name="TextBox 28"/>
          <p:cNvSpPr txBox="1"/>
          <p:nvPr/>
        </p:nvSpPr>
        <p:spPr>
          <a:xfrm>
            <a:off x="8206027" y="650747"/>
            <a:ext cx="9465769" cy="1384300"/>
          </a:xfrm>
          <a:prstGeom prst="rect">
            <a:avLst/>
          </a:prstGeom>
        </p:spPr>
        <p:txBody>
          <a:bodyPr lIns="0" tIns="0" rIns="0" bIns="0" rtlCol="0" anchor="t">
            <a:spAutoFit/>
          </a:bodyPr>
          <a:lstStyle/>
          <a:p>
            <a:pPr algn="ctr">
              <a:lnSpc>
                <a:spcPts val="5599"/>
              </a:lnSpc>
            </a:pPr>
            <a:r>
              <a:rPr lang="en-US" sz="3999" b="1">
                <a:solidFill>
                  <a:srgbClr val="FFFFFF"/>
                </a:solidFill>
                <a:latin typeface="Open Sauce Bold"/>
                <a:ea typeface="Open Sauce Bold"/>
                <a:cs typeface="Open Sauce Bold"/>
                <a:sym typeface="Open Sauce Bold"/>
              </a:rPr>
              <a:t>CERTAIN FACTORS AFFECT REVENUE HEAVILY</a:t>
            </a:r>
          </a:p>
        </p:txBody>
      </p:sp>
      <p:sp>
        <p:nvSpPr>
          <p:cNvPr id="29" name="TextBox 29"/>
          <p:cNvSpPr txBox="1"/>
          <p:nvPr/>
        </p:nvSpPr>
        <p:spPr>
          <a:xfrm>
            <a:off x="1574170" y="7302932"/>
            <a:ext cx="6631856" cy="1298575"/>
          </a:xfrm>
          <a:prstGeom prst="rect">
            <a:avLst/>
          </a:prstGeom>
        </p:spPr>
        <p:txBody>
          <a:bodyPr lIns="0" tIns="0" rIns="0" bIns="0" rtlCol="0" anchor="t">
            <a:spAutoFit/>
          </a:bodyPr>
          <a:lstStyle/>
          <a:p>
            <a:pPr algn="just">
              <a:lnSpc>
                <a:spcPts val="3499"/>
              </a:lnSpc>
            </a:pPr>
            <a:r>
              <a:rPr lang="en-US" sz="2499">
                <a:solidFill>
                  <a:srgbClr val="F3F2F0"/>
                </a:solidFill>
                <a:latin typeface="Open Sauce"/>
                <a:ea typeface="Open Sauce"/>
                <a:cs typeface="Open Sauce"/>
                <a:sym typeface="Open Sauce"/>
              </a:rPr>
              <a:t>“Dam” category clearly generated double the amount of revenue from the second-lead category which is “ao kieu”</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2F0"/>
        </a:solidFill>
        <a:effectLst/>
      </p:bgPr>
    </p:bg>
    <p:spTree>
      <p:nvGrpSpPr>
        <p:cNvPr id="1" name=""/>
        <p:cNvGrpSpPr/>
        <p:nvPr/>
      </p:nvGrpSpPr>
      <p:grpSpPr>
        <a:xfrm>
          <a:off x="0" y="0"/>
          <a:ext cx="0" cy="0"/>
          <a:chOff x="0" y="0"/>
          <a:chExt cx="0" cy="0"/>
        </a:xfrm>
      </p:grpSpPr>
      <p:sp>
        <p:nvSpPr>
          <p:cNvPr id="2" name="Freeform 2"/>
          <p:cNvSpPr/>
          <p:nvPr/>
        </p:nvSpPr>
        <p:spPr>
          <a:xfrm>
            <a:off x="9194555" y="1833017"/>
            <a:ext cx="8064745" cy="4619364"/>
          </a:xfrm>
          <a:custGeom>
            <a:avLst/>
            <a:gdLst/>
            <a:ahLst/>
            <a:cxnLst/>
            <a:rect l="l" t="t" r="r" b="b"/>
            <a:pathLst>
              <a:path w="8064745" h="4619364">
                <a:moveTo>
                  <a:pt x="0" y="0"/>
                </a:moveTo>
                <a:lnTo>
                  <a:pt x="8064745" y="0"/>
                </a:lnTo>
                <a:lnTo>
                  <a:pt x="8064745" y="4619364"/>
                </a:lnTo>
                <a:lnTo>
                  <a:pt x="0" y="4619364"/>
                </a:lnTo>
                <a:lnTo>
                  <a:pt x="0" y="0"/>
                </a:lnTo>
                <a:close/>
              </a:path>
            </a:pathLst>
          </a:custGeom>
          <a:blipFill>
            <a:blip r:embed="rId2"/>
            <a:stretch>
              <a:fillRect/>
            </a:stretch>
          </a:blipFill>
        </p:spPr>
        <p:txBody>
          <a:bodyPr/>
          <a:lstStyle/>
          <a:p>
            <a:endParaRPr lang="en-US"/>
          </a:p>
        </p:txBody>
      </p:sp>
      <p:sp>
        <p:nvSpPr>
          <p:cNvPr id="3" name="Freeform 3"/>
          <p:cNvSpPr/>
          <p:nvPr/>
        </p:nvSpPr>
        <p:spPr>
          <a:xfrm>
            <a:off x="1028700" y="1833017"/>
            <a:ext cx="7581271" cy="4645762"/>
          </a:xfrm>
          <a:custGeom>
            <a:avLst/>
            <a:gdLst/>
            <a:ahLst/>
            <a:cxnLst/>
            <a:rect l="l" t="t" r="r" b="b"/>
            <a:pathLst>
              <a:path w="7581271" h="4645762">
                <a:moveTo>
                  <a:pt x="0" y="0"/>
                </a:moveTo>
                <a:lnTo>
                  <a:pt x="7581271" y="0"/>
                </a:lnTo>
                <a:lnTo>
                  <a:pt x="7581271" y="4645763"/>
                </a:lnTo>
                <a:lnTo>
                  <a:pt x="0" y="4645763"/>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028700" y="290848"/>
            <a:ext cx="11632779" cy="1216025"/>
          </a:xfrm>
          <a:prstGeom prst="rect">
            <a:avLst/>
          </a:prstGeom>
        </p:spPr>
        <p:txBody>
          <a:bodyPr lIns="0" tIns="0" rIns="0" bIns="0" rtlCol="0" anchor="t">
            <a:spAutoFit/>
          </a:bodyPr>
          <a:lstStyle/>
          <a:p>
            <a:pPr marL="0" lvl="0" indent="0" algn="l">
              <a:lnSpc>
                <a:spcPts val="4899"/>
              </a:lnSpc>
              <a:spcBef>
                <a:spcPct val="0"/>
              </a:spcBef>
            </a:pPr>
            <a:r>
              <a:rPr lang="en-US" sz="3499" b="1">
                <a:solidFill>
                  <a:srgbClr val="292961"/>
                </a:solidFill>
                <a:latin typeface="Open Sauce Bold"/>
                <a:ea typeface="Open Sauce Bold"/>
                <a:cs typeface="Open Sauce Bold"/>
                <a:sym typeface="Open Sauce Bold"/>
              </a:rPr>
              <a:t>INCREASED TRAFFIC AND CONVERSION RATES FAILED TO DRIVE MORE PURCHASES OR REVENUE</a:t>
            </a:r>
          </a:p>
        </p:txBody>
      </p:sp>
      <p:sp>
        <p:nvSpPr>
          <p:cNvPr id="5" name="TextBox 5"/>
          <p:cNvSpPr txBox="1"/>
          <p:nvPr/>
        </p:nvSpPr>
        <p:spPr>
          <a:xfrm>
            <a:off x="9220200" y="6850398"/>
            <a:ext cx="8064745" cy="1736725"/>
          </a:xfrm>
          <a:prstGeom prst="rect">
            <a:avLst/>
          </a:prstGeom>
        </p:spPr>
        <p:txBody>
          <a:bodyPr lIns="0" tIns="0" rIns="0" bIns="0" rtlCol="0" anchor="t">
            <a:spAutoFit/>
          </a:bodyPr>
          <a:lstStyle/>
          <a:p>
            <a:pPr algn="just">
              <a:lnSpc>
                <a:spcPts val="3499"/>
              </a:lnSpc>
            </a:pPr>
            <a:r>
              <a:rPr lang="en-US" sz="2499">
                <a:solidFill>
                  <a:srgbClr val="292961"/>
                </a:solidFill>
                <a:latin typeface="Open Sauce"/>
                <a:ea typeface="Open Sauce"/>
                <a:cs typeface="Open Sauce"/>
                <a:sym typeface="Open Sauce"/>
              </a:rPr>
              <a:t>Even though </a:t>
            </a:r>
            <a:r>
              <a:rPr lang="en-US" sz="2499" b="1">
                <a:solidFill>
                  <a:srgbClr val="292961"/>
                </a:solidFill>
                <a:latin typeface="Open Sauce Bold"/>
                <a:ea typeface="Open Sauce Bold"/>
                <a:cs typeface="Open Sauce Bold"/>
                <a:sym typeface="Open Sauce Bold"/>
              </a:rPr>
              <a:t>January </a:t>
            </a:r>
            <a:r>
              <a:rPr lang="en-US" sz="2499">
                <a:solidFill>
                  <a:srgbClr val="292961"/>
                </a:solidFill>
                <a:latin typeface="Open Sauce"/>
                <a:ea typeface="Open Sauce"/>
                <a:cs typeface="Open Sauce"/>
                <a:sym typeface="Open Sauce"/>
              </a:rPr>
              <a:t>has the </a:t>
            </a:r>
            <a:r>
              <a:rPr lang="en-US" sz="2499" b="1">
                <a:solidFill>
                  <a:srgbClr val="292961"/>
                </a:solidFill>
                <a:latin typeface="Open Sauce Bold"/>
                <a:ea typeface="Open Sauce Bold"/>
                <a:cs typeface="Open Sauce Bold"/>
                <a:sym typeface="Open Sauce Bold"/>
              </a:rPr>
              <a:t>highest traffic and revenue</a:t>
            </a:r>
            <a:r>
              <a:rPr lang="en-US" sz="2499">
                <a:solidFill>
                  <a:srgbClr val="292961"/>
                </a:solidFill>
                <a:latin typeface="Open Sauce"/>
                <a:ea typeface="Open Sauce"/>
                <a:cs typeface="Open Sauce"/>
                <a:sym typeface="Open Sauce"/>
              </a:rPr>
              <a:t>, it has the </a:t>
            </a:r>
            <a:r>
              <a:rPr lang="en-US" sz="2499" b="1">
                <a:solidFill>
                  <a:srgbClr val="292961"/>
                </a:solidFill>
                <a:latin typeface="Open Sauce Bold"/>
                <a:ea typeface="Open Sauce Bold"/>
                <a:cs typeface="Open Sauce Bold"/>
                <a:sym typeface="Open Sauce Bold"/>
              </a:rPr>
              <a:t>lowest CR</a:t>
            </a:r>
            <a:r>
              <a:rPr lang="en-US" sz="2499">
                <a:solidFill>
                  <a:srgbClr val="292961"/>
                </a:solidFill>
                <a:latin typeface="Open Sauce"/>
                <a:ea typeface="Open Sauce"/>
                <a:cs typeface="Open Sauce"/>
                <a:sym typeface="Open Sauce"/>
              </a:rPr>
              <a:t>. This can be explained by the </a:t>
            </a:r>
            <a:r>
              <a:rPr lang="en-US" sz="2499" b="1">
                <a:solidFill>
                  <a:srgbClr val="292961"/>
                </a:solidFill>
                <a:latin typeface="Open Sauce Bold"/>
                <a:ea typeface="Open Sauce Bold"/>
                <a:cs typeface="Open Sauce Bold"/>
                <a:sym typeface="Open Sauce Bold"/>
              </a:rPr>
              <a:t>Tet effect</a:t>
            </a:r>
            <a:r>
              <a:rPr lang="en-US" sz="2499">
                <a:solidFill>
                  <a:srgbClr val="292961"/>
                </a:solidFill>
                <a:latin typeface="Open Sauce"/>
                <a:ea typeface="Open Sauce"/>
                <a:cs typeface="Open Sauce"/>
                <a:sym typeface="Open Sauce"/>
              </a:rPr>
              <a:t>, when people tends to spend more on holidays.</a:t>
            </a:r>
          </a:p>
        </p:txBody>
      </p:sp>
      <p:sp>
        <p:nvSpPr>
          <p:cNvPr id="6" name="TextBox 6"/>
          <p:cNvSpPr txBox="1"/>
          <p:nvPr/>
        </p:nvSpPr>
        <p:spPr>
          <a:xfrm>
            <a:off x="1028700" y="6850398"/>
            <a:ext cx="7581271" cy="1298575"/>
          </a:xfrm>
          <a:prstGeom prst="rect">
            <a:avLst/>
          </a:prstGeom>
        </p:spPr>
        <p:txBody>
          <a:bodyPr lIns="0" tIns="0" rIns="0" bIns="0" rtlCol="0" anchor="t">
            <a:spAutoFit/>
          </a:bodyPr>
          <a:lstStyle/>
          <a:p>
            <a:pPr algn="just">
              <a:lnSpc>
                <a:spcPts val="3499"/>
              </a:lnSpc>
            </a:pPr>
            <a:r>
              <a:rPr lang="en-US" sz="2499" b="1">
                <a:solidFill>
                  <a:srgbClr val="292961"/>
                </a:solidFill>
                <a:latin typeface="Open Sauce Bold"/>
                <a:ea typeface="Open Sauce Bold"/>
                <a:cs typeface="Open Sauce Bold"/>
                <a:sym typeface="Open Sauce Bold"/>
              </a:rPr>
              <a:t>February</a:t>
            </a:r>
            <a:r>
              <a:rPr lang="en-US" sz="2499">
                <a:solidFill>
                  <a:srgbClr val="292961"/>
                </a:solidFill>
                <a:latin typeface="Open Sauce"/>
                <a:ea typeface="Open Sauce"/>
                <a:cs typeface="Open Sauce"/>
                <a:sym typeface="Open Sauce"/>
              </a:rPr>
              <a:t> recorded the </a:t>
            </a:r>
            <a:r>
              <a:rPr lang="en-US" sz="2499" b="1">
                <a:solidFill>
                  <a:srgbClr val="292961"/>
                </a:solidFill>
                <a:latin typeface="Open Sauce Bold"/>
                <a:ea typeface="Open Sauce Bold"/>
                <a:cs typeface="Open Sauce Bold"/>
                <a:sym typeface="Open Sauce Bold"/>
              </a:rPr>
              <a:t>poorest revenue</a:t>
            </a:r>
            <a:r>
              <a:rPr lang="en-US" sz="2499">
                <a:solidFill>
                  <a:srgbClr val="292961"/>
                </a:solidFill>
                <a:latin typeface="Open Sauce"/>
                <a:ea typeface="Open Sauce"/>
                <a:cs typeface="Open Sauce"/>
                <a:sym typeface="Open Sauce"/>
              </a:rPr>
              <a:t> as there are</a:t>
            </a:r>
            <a:r>
              <a:rPr lang="en-US" sz="2499" b="1">
                <a:solidFill>
                  <a:srgbClr val="292961"/>
                </a:solidFill>
                <a:latin typeface="Open Sauce Bold"/>
                <a:ea typeface="Open Sauce Bold"/>
                <a:cs typeface="Open Sauce Bold"/>
                <a:sym typeface="Open Sauce Bold"/>
              </a:rPr>
              <a:t> fewer days</a:t>
            </a:r>
            <a:r>
              <a:rPr lang="en-US" sz="2499">
                <a:solidFill>
                  <a:srgbClr val="292961"/>
                </a:solidFill>
                <a:latin typeface="Open Sauce"/>
                <a:ea typeface="Open Sauce"/>
                <a:cs typeface="Open Sauce"/>
                <a:sym typeface="Open Sauce"/>
              </a:rPr>
              <a:t> in this month and also a record of one week was deducted because of Tet holiday.</a:t>
            </a:r>
          </a:p>
        </p:txBody>
      </p:sp>
      <p:grpSp>
        <p:nvGrpSpPr>
          <p:cNvPr id="7" name="Group 7"/>
          <p:cNvGrpSpPr/>
          <p:nvPr/>
        </p:nvGrpSpPr>
        <p:grpSpPr>
          <a:xfrm>
            <a:off x="1536700" y="8925252"/>
            <a:ext cx="337802" cy="337802"/>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5382900" y="8920498"/>
            <a:ext cx="337802" cy="33780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3" name="AutoShape 13"/>
          <p:cNvSpPr/>
          <p:nvPr/>
        </p:nvSpPr>
        <p:spPr>
          <a:xfrm>
            <a:off x="802894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14" name="Group 14"/>
          <p:cNvGrpSpPr/>
          <p:nvPr/>
        </p:nvGrpSpPr>
        <p:grpSpPr>
          <a:xfrm>
            <a:off x="9229099" y="8920498"/>
            <a:ext cx="337802" cy="33780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en-US"/>
            </a:p>
          </p:txBody>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6921498" y="8920498"/>
            <a:ext cx="337802" cy="33780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3112256" y="8920498"/>
            <a:ext cx="337802" cy="33780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22" name="TextBox 2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3" name="TextBox 23"/>
          <p:cNvSpPr txBox="1"/>
          <p:nvPr/>
        </p:nvSpPr>
        <p:spPr>
          <a:xfrm>
            <a:off x="969794" y="9365846"/>
            <a:ext cx="1587055" cy="328295"/>
          </a:xfrm>
          <a:prstGeom prst="rect">
            <a:avLst/>
          </a:prstGeom>
        </p:spPr>
        <p:txBody>
          <a:bodyPr wrap="square" lIns="0" tIns="0" rIns="0" bIns="0" rtlCol="0" anchor="t">
            <a:spAutoFit/>
          </a:bodyPr>
          <a:lstStyle/>
          <a:p>
            <a:pPr algn="ctr">
              <a:lnSpc>
                <a:spcPts val="2800"/>
              </a:lnSpc>
            </a:pPr>
            <a:r>
              <a:rPr lang="en-US" sz="2000" dirty="0">
                <a:solidFill>
                  <a:srgbClr val="000000"/>
                </a:solidFill>
                <a:latin typeface="Open Sauce"/>
                <a:ea typeface="Open Sauce"/>
                <a:cs typeface="Open Sauce"/>
                <a:sym typeface="Open Sauce"/>
              </a:rPr>
              <a:t>Background</a:t>
            </a:r>
          </a:p>
        </p:txBody>
      </p:sp>
      <p:sp>
        <p:nvSpPr>
          <p:cNvPr id="24" name="TextBox 24"/>
          <p:cNvSpPr txBox="1"/>
          <p:nvPr/>
        </p:nvSpPr>
        <p:spPr>
          <a:xfrm>
            <a:off x="4825370" y="9365846"/>
            <a:ext cx="1727830" cy="328295"/>
          </a:xfrm>
          <a:prstGeom prst="rect">
            <a:avLst/>
          </a:prstGeom>
        </p:spPr>
        <p:txBody>
          <a:bodyPr wrap="square" lIns="0" tIns="0" rIns="0" bIns="0" rtlCol="0" anchor="t">
            <a:spAutoFit/>
          </a:bodyPr>
          <a:lstStyle/>
          <a:p>
            <a:pPr algn="ctr">
              <a:lnSpc>
                <a:spcPts val="2800"/>
              </a:lnSpc>
            </a:pPr>
            <a:r>
              <a:rPr lang="en-US" sz="2000">
                <a:solidFill>
                  <a:srgbClr val="000000"/>
                </a:solidFill>
                <a:latin typeface="Open Sauce"/>
                <a:ea typeface="Open Sauce"/>
                <a:cs typeface="Open Sauce"/>
                <a:sym typeface="Open Sauce"/>
              </a:rPr>
              <a:t>Key isssues</a:t>
            </a:r>
          </a:p>
        </p:txBody>
      </p:sp>
      <p:sp>
        <p:nvSpPr>
          <p:cNvPr id="25" name="TextBox 25"/>
          <p:cNvSpPr txBox="1"/>
          <p:nvPr/>
        </p:nvSpPr>
        <p:spPr>
          <a:xfrm>
            <a:off x="8866758" y="9365846"/>
            <a:ext cx="1062484" cy="328295"/>
          </a:xfrm>
          <a:prstGeom prst="rect">
            <a:avLst/>
          </a:prstGeom>
        </p:spPr>
        <p:txBody>
          <a:bodyPr lIns="0" tIns="0" rIns="0" bIns="0" rtlCol="0" anchor="t">
            <a:spAutoFit/>
          </a:bodyPr>
          <a:lstStyle/>
          <a:p>
            <a:pPr algn="ctr">
              <a:lnSpc>
                <a:spcPts val="2800"/>
              </a:lnSpc>
            </a:pPr>
            <a:r>
              <a:rPr lang="en-US" sz="2000" b="1" dirty="0">
                <a:solidFill>
                  <a:srgbClr val="FFFFFF"/>
                </a:solidFill>
                <a:highlight>
                  <a:srgbClr val="000000"/>
                </a:highlight>
                <a:latin typeface="Open Sauce Bold"/>
                <a:ea typeface="Open Sauce Bold"/>
                <a:cs typeface="Open Sauce Bold"/>
                <a:sym typeface="Open Sauce Bold"/>
              </a:rPr>
              <a:t>Analysis</a:t>
            </a:r>
          </a:p>
        </p:txBody>
      </p:sp>
      <p:sp>
        <p:nvSpPr>
          <p:cNvPr id="26" name="TextBox 26"/>
          <p:cNvSpPr txBox="1"/>
          <p:nvPr/>
        </p:nvSpPr>
        <p:spPr>
          <a:xfrm>
            <a:off x="12197762" y="9350208"/>
            <a:ext cx="2204038" cy="328295"/>
          </a:xfrm>
          <a:prstGeom prst="rect">
            <a:avLst/>
          </a:prstGeom>
        </p:spPr>
        <p:txBody>
          <a:bodyPr wrap="square" lIns="0" tIns="0" rIns="0" bIns="0" rtlCol="0" anchor="t">
            <a:spAutoFit/>
          </a:bodyPr>
          <a:lstStyle/>
          <a:p>
            <a:pPr algn="ctr">
              <a:lnSpc>
                <a:spcPts val="2800"/>
              </a:lnSpc>
            </a:pPr>
            <a:r>
              <a:rPr lang="en-US" sz="2000" dirty="0">
                <a:solidFill>
                  <a:srgbClr val="000000"/>
                </a:solidFill>
                <a:latin typeface="Open Sauce"/>
                <a:ea typeface="Open Sauce"/>
                <a:cs typeface="Open Sauce"/>
                <a:sym typeface="Open Sauce"/>
              </a:rPr>
              <a:t>Recommendation</a:t>
            </a:r>
          </a:p>
        </p:txBody>
      </p:sp>
      <p:sp>
        <p:nvSpPr>
          <p:cNvPr id="27" name="TextBox 27"/>
          <p:cNvSpPr txBox="1"/>
          <p:nvPr/>
        </p:nvSpPr>
        <p:spPr>
          <a:xfrm>
            <a:off x="16509002" y="9350209"/>
            <a:ext cx="1162794" cy="349250"/>
          </a:xfrm>
          <a:prstGeom prst="rect">
            <a:avLst/>
          </a:prstGeom>
        </p:spPr>
        <p:txBody>
          <a:bodyPr lIns="0" tIns="0" rIns="0" bIns="0" rtlCol="0" anchor="t">
            <a:spAutoFit/>
          </a:bodyPr>
          <a:lstStyle/>
          <a:p>
            <a:pPr algn="ctr">
              <a:lnSpc>
                <a:spcPts val="2800"/>
              </a:lnSpc>
            </a:pPr>
            <a:r>
              <a:rPr lang="en-US" sz="2000">
                <a:solidFill>
                  <a:srgbClr val="000000"/>
                </a:solidFill>
                <a:latin typeface="Open Sauce"/>
                <a:ea typeface="Open Sauce"/>
                <a:cs typeface="Open Sauce"/>
                <a:sym typeface="Open Sauce"/>
              </a:rPr>
              <a:t>Appendix</a:t>
            </a:r>
          </a:p>
        </p:txBody>
      </p:sp>
      <p:sp>
        <p:nvSpPr>
          <p:cNvPr id="28" name="AutoShape 28"/>
          <p:cNvSpPr/>
          <p:nvPr/>
        </p:nvSpPr>
        <p:spPr>
          <a:xfrm>
            <a:off x="153670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sp>
        <p:nvSpPr>
          <p:cNvPr id="29" name="AutoShape 29"/>
          <p:cNvSpPr/>
          <p:nvPr/>
        </p:nvSpPr>
        <p:spPr>
          <a:xfrm>
            <a:off x="1076706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2F0"/>
        </a:solidFill>
        <a:effectLst/>
      </p:bgPr>
    </p:bg>
    <p:spTree>
      <p:nvGrpSpPr>
        <p:cNvPr id="1" name=""/>
        <p:cNvGrpSpPr/>
        <p:nvPr/>
      </p:nvGrpSpPr>
      <p:grpSpPr>
        <a:xfrm>
          <a:off x="0" y="0"/>
          <a:ext cx="0" cy="0"/>
          <a:chOff x="0" y="0"/>
          <a:chExt cx="0" cy="0"/>
        </a:xfrm>
      </p:grpSpPr>
      <p:sp>
        <p:nvSpPr>
          <p:cNvPr id="2" name="Freeform 2"/>
          <p:cNvSpPr/>
          <p:nvPr/>
        </p:nvSpPr>
        <p:spPr>
          <a:xfrm>
            <a:off x="2095553" y="2050741"/>
            <a:ext cx="14096894" cy="4563870"/>
          </a:xfrm>
          <a:custGeom>
            <a:avLst/>
            <a:gdLst/>
            <a:ahLst/>
            <a:cxnLst/>
            <a:rect l="l" t="t" r="r" b="b"/>
            <a:pathLst>
              <a:path w="14096894" h="4563870">
                <a:moveTo>
                  <a:pt x="0" y="0"/>
                </a:moveTo>
                <a:lnTo>
                  <a:pt x="14096894" y="0"/>
                </a:lnTo>
                <a:lnTo>
                  <a:pt x="14096894" y="4563870"/>
                </a:lnTo>
                <a:lnTo>
                  <a:pt x="0" y="4563870"/>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028700" y="522729"/>
            <a:ext cx="11406762" cy="1216025"/>
          </a:xfrm>
          <a:prstGeom prst="rect">
            <a:avLst/>
          </a:prstGeom>
        </p:spPr>
        <p:txBody>
          <a:bodyPr lIns="0" tIns="0" rIns="0" bIns="0" rtlCol="0" anchor="t">
            <a:spAutoFit/>
          </a:bodyPr>
          <a:lstStyle/>
          <a:p>
            <a:pPr marL="0" lvl="0" indent="0" algn="l">
              <a:lnSpc>
                <a:spcPts val="4899"/>
              </a:lnSpc>
              <a:spcBef>
                <a:spcPct val="0"/>
              </a:spcBef>
            </a:pPr>
            <a:r>
              <a:rPr lang="en-US" sz="3499" b="1">
                <a:solidFill>
                  <a:srgbClr val="292961"/>
                </a:solidFill>
                <a:latin typeface="Open Sauce Bold"/>
                <a:ea typeface="Open Sauce Bold"/>
                <a:cs typeface="Open Sauce Bold"/>
                <a:sym typeface="Open Sauce Bold"/>
              </a:rPr>
              <a:t>INCREASED TRAFFIC AND CONVERSION RATES FAILED TO DRIVE MORE PURCHASES OR REVENUE</a:t>
            </a:r>
          </a:p>
        </p:txBody>
      </p:sp>
      <p:sp>
        <p:nvSpPr>
          <p:cNvPr id="4" name="TextBox 4"/>
          <p:cNvSpPr txBox="1"/>
          <p:nvPr/>
        </p:nvSpPr>
        <p:spPr>
          <a:xfrm>
            <a:off x="1104900" y="6818229"/>
            <a:ext cx="16230600" cy="1736725"/>
          </a:xfrm>
          <a:prstGeom prst="rect">
            <a:avLst/>
          </a:prstGeom>
        </p:spPr>
        <p:txBody>
          <a:bodyPr lIns="0" tIns="0" rIns="0" bIns="0" rtlCol="0" anchor="t">
            <a:spAutoFit/>
          </a:bodyPr>
          <a:lstStyle/>
          <a:p>
            <a:pPr algn="just">
              <a:lnSpc>
                <a:spcPts val="3499"/>
              </a:lnSpc>
            </a:pPr>
            <a:r>
              <a:rPr lang="en-US" sz="2499">
                <a:solidFill>
                  <a:srgbClr val="292961"/>
                </a:solidFill>
                <a:latin typeface="Open Sauce"/>
                <a:ea typeface="Open Sauce"/>
                <a:cs typeface="Open Sauce"/>
                <a:sym typeface="Open Sauce"/>
              </a:rPr>
              <a:t>The </a:t>
            </a:r>
            <a:r>
              <a:rPr lang="en-US" sz="2499" b="1">
                <a:solidFill>
                  <a:srgbClr val="292961"/>
                </a:solidFill>
                <a:latin typeface="Open Sauce Bold"/>
                <a:ea typeface="Open Sauce Bold"/>
                <a:cs typeface="Open Sauce Bold"/>
                <a:sym typeface="Open Sauce Bold"/>
              </a:rPr>
              <a:t>“high Revenue - low CR”</a:t>
            </a:r>
            <a:r>
              <a:rPr lang="en-US" sz="2499">
                <a:solidFill>
                  <a:srgbClr val="292961"/>
                </a:solidFill>
                <a:latin typeface="Open Sauce"/>
                <a:ea typeface="Open Sauce"/>
                <a:cs typeface="Open Sauce"/>
                <a:sym typeface="Open Sauce"/>
              </a:rPr>
              <a:t> also applied on weekdays. </a:t>
            </a:r>
            <a:r>
              <a:rPr lang="en-US" sz="2499" b="1">
                <a:solidFill>
                  <a:srgbClr val="292961"/>
                </a:solidFill>
                <a:latin typeface="Open Sauce Bold"/>
                <a:ea typeface="Open Sauce Bold"/>
                <a:cs typeface="Open Sauce Bold"/>
                <a:sym typeface="Open Sauce Bold"/>
              </a:rPr>
              <a:t>Wednesday experienced the highest CR</a:t>
            </a:r>
            <a:r>
              <a:rPr lang="en-US" sz="2499">
                <a:solidFill>
                  <a:srgbClr val="292961"/>
                </a:solidFill>
                <a:latin typeface="Open Sauce"/>
                <a:ea typeface="Open Sauce"/>
                <a:cs typeface="Open Sauce"/>
                <a:sym typeface="Open Sauce"/>
              </a:rPr>
              <a:t> of 66% but generated only mid revenue compared to others. On </a:t>
            </a:r>
            <a:r>
              <a:rPr lang="en-US" sz="2499" b="1">
                <a:solidFill>
                  <a:srgbClr val="292961"/>
                </a:solidFill>
                <a:latin typeface="Open Sauce Bold"/>
                <a:ea typeface="Open Sauce Bold"/>
                <a:cs typeface="Open Sauce Bold"/>
                <a:sym typeface="Open Sauce Bold"/>
              </a:rPr>
              <a:t>weekends and Thursdays</a:t>
            </a:r>
            <a:r>
              <a:rPr lang="en-US" sz="2499">
                <a:solidFill>
                  <a:srgbClr val="292961"/>
                </a:solidFill>
                <a:latin typeface="Open Sauce"/>
                <a:ea typeface="Open Sauce"/>
                <a:cs typeface="Open Sauce"/>
                <a:sym typeface="Open Sauce"/>
              </a:rPr>
              <a:t>, the CR was relatively lower but created the </a:t>
            </a:r>
            <a:r>
              <a:rPr lang="en-US" sz="2499" b="1">
                <a:solidFill>
                  <a:srgbClr val="292961"/>
                </a:solidFill>
                <a:latin typeface="Open Sauce Bold"/>
                <a:ea typeface="Open Sauce Bold"/>
                <a:cs typeface="Open Sauce Bold"/>
                <a:sym typeface="Open Sauce Bold"/>
              </a:rPr>
              <a:t>most revenue</a:t>
            </a:r>
            <a:r>
              <a:rPr lang="en-US" sz="2499">
                <a:solidFill>
                  <a:srgbClr val="292961"/>
                </a:solidFill>
                <a:latin typeface="Open Sauce"/>
                <a:ea typeface="Open Sauce"/>
                <a:cs typeface="Open Sauce"/>
                <a:sym typeface="Open Sauce"/>
              </a:rPr>
              <a:t>. This implies that the proportion between visitors and buyers was less than that of on Wednesday.</a:t>
            </a:r>
          </a:p>
        </p:txBody>
      </p:sp>
      <p:grpSp>
        <p:nvGrpSpPr>
          <p:cNvPr id="5" name="Group 5"/>
          <p:cNvGrpSpPr/>
          <p:nvPr/>
        </p:nvGrpSpPr>
        <p:grpSpPr>
          <a:xfrm>
            <a:off x="1536700" y="8925252"/>
            <a:ext cx="337802" cy="33780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5382900" y="8920498"/>
            <a:ext cx="337802" cy="337802"/>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1" name="AutoShape 11"/>
          <p:cNvSpPr/>
          <p:nvPr/>
        </p:nvSpPr>
        <p:spPr>
          <a:xfrm>
            <a:off x="802894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12" name="Group 12"/>
          <p:cNvGrpSpPr/>
          <p:nvPr/>
        </p:nvGrpSpPr>
        <p:grpSpPr>
          <a:xfrm>
            <a:off x="9229099" y="8920498"/>
            <a:ext cx="337802" cy="33780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en-US"/>
            </a:p>
          </p:txBody>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6921498" y="8920498"/>
            <a:ext cx="337802" cy="33780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3112256" y="8920498"/>
            <a:ext cx="337802" cy="33780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1" name="TextBox 21"/>
          <p:cNvSpPr txBox="1"/>
          <p:nvPr/>
        </p:nvSpPr>
        <p:spPr>
          <a:xfrm>
            <a:off x="969795" y="9365846"/>
            <a:ext cx="1711124" cy="337799"/>
          </a:xfrm>
          <a:prstGeom prst="rect">
            <a:avLst/>
          </a:prstGeom>
        </p:spPr>
        <p:txBody>
          <a:bodyPr wrap="square" lIns="0" tIns="0" rIns="0" bIns="0" rtlCol="0" anchor="t">
            <a:spAutoFit/>
          </a:bodyPr>
          <a:lstStyle/>
          <a:p>
            <a:pPr algn="ctr">
              <a:lnSpc>
                <a:spcPts val="2800"/>
              </a:lnSpc>
            </a:pPr>
            <a:r>
              <a:rPr lang="en-US" sz="2000" dirty="0">
                <a:solidFill>
                  <a:srgbClr val="000000"/>
                </a:solidFill>
                <a:latin typeface="Open Sauce"/>
                <a:ea typeface="Open Sauce"/>
                <a:cs typeface="Open Sauce"/>
                <a:sym typeface="Open Sauce"/>
              </a:rPr>
              <a:t>Background</a:t>
            </a:r>
          </a:p>
        </p:txBody>
      </p:sp>
      <p:sp>
        <p:nvSpPr>
          <p:cNvPr id="22" name="TextBox 22"/>
          <p:cNvSpPr txBox="1"/>
          <p:nvPr/>
        </p:nvSpPr>
        <p:spPr>
          <a:xfrm>
            <a:off x="4825370" y="9365845"/>
            <a:ext cx="1575430" cy="328295"/>
          </a:xfrm>
          <a:prstGeom prst="rect">
            <a:avLst/>
          </a:prstGeom>
        </p:spPr>
        <p:txBody>
          <a:bodyPr wrap="square" lIns="0" tIns="0" rIns="0" bIns="0" rtlCol="0" anchor="t">
            <a:spAutoFit/>
          </a:bodyPr>
          <a:lstStyle/>
          <a:p>
            <a:pPr algn="ctr">
              <a:lnSpc>
                <a:spcPts val="2800"/>
              </a:lnSpc>
            </a:pPr>
            <a:r>
              <a:rPr lang="en-US" sz="2000" dirty="0">
                <a:solidFill>
                  <a:srgbClr val="000000"/>
                </a:solidFill>
                <a:latin typeface="Open Sauce"/>
                <a:ea typeface="Open Sauce"/>
                <a:cs typeface="Open Sauce"/>
                <a:sym typeface="Open Sauce"/>
              </a:rPr>
              <a:t>Key </a:t>
            </a:r>
            <a:r>
              <a:rPr lang="en-US" sz="2000" dirty="0" err="1">
                <a:solidFill>
                  <a:srgbClr val="000000"/>
                </a:solidFill>
                <a:latin typeface="Open Sauce"/>
                <a:ea typeface="Open Sauce"/>
                <a:cs typeface="Open Sauce"/>
                <a:sym typeface="Open Sauce"/>
              </a:rPr>
              <a:t>isssues</a:t>
            </a:r>
            <a:endParaRPr lang="en-US" sz="2000" dirty="0">
              <a:solidFill>
                <a:srgbClr val="000000"/>
              </a:solidFill>
              <a:latin typeface="Open Sauce"/>
              <a:ea typeface="Open Sauce"/>
              <a:cs typeface="Open Sauce"/>
              <a:sym typeface="Open Sauce"/>
            </a:endParaRPr>
          </a:p>
        </p:txBody>
      </p:sp>
      <p:sp>
        <p:nvSpPr>
          <p:cNvPr id="23" name="TextBox 23"/>
          <p:cNvSpPr txBox="1"/>
          <p:nvPr/>
        </p:nvSpPr>
        <p:spPr>
          <a:xfrm>
            <a:off x="8866758" y="9365846"/>
            <a:ext cx="1062484" cy="328295"/>
          </a:xfrm>
          <a:prstGeom prst="rect">
            <a:avLst/>
          </a:prstGeom>
        </p:spPr>
        <p:txBody>
          <a:bodyPr lIns="0" tIns="0" rIns="0" bIns="0" rtlCol="0" anchor="t">
            <a:spAutoFit/>
          </a:bodyPr>
          <a:lstStyle/>
          <a:p>
            <a:pPr algn="ctr">
              <a:lnSpc>
                <a:spcPts val="2800"/>
              </a:lnSpc>
            </a:pPr>
            <a:r>
              <a:rPr lang="en-US" sz="2000" b="1">
                <a:solidFill>
                  <a:srgbClr val="FFFFFF"/>
                </a:solidFill>
                <a:highlight>
                  <a:srgbClr val="000000"/>
                </a:highlight>
                <a:latin typeface="Open Sauce Bold"/>
                <a:ea typeface="Open Sauce Bold"/>
                <a:cs typeface="Open Sauce Bold"/>
                <a:sym typeface="Open Sauce Bold"/>
              </a:rPr>
              <a:t>Analysis</a:t>
            </a:r>
          </a:p>
        </p:txBody>
      </p:sp>
      <p:sp>
        <p:nvSpPr>
          <p:cNvPr id="24" name="TextBox 24"/>
          <p:cNvSpPr txBox="1"/>
          <p:nvPr/>
        </p:nvSpPr>
        <p:spPr>
          <a:xfrm>
            <a:off x="12197762" y="9350209"/>
            <a:ext cx="2280238" cy="328295"/>
          </a:xfrm>
          <a:prstGeom prst="rect">
            <a:avLst/>
          </a:prstGeom>
        </p:spPr>
        <p:txBody>
          <a:bodyPr wrap="square" lIns="0" tIns="0" rIns="0" bIns="0" rtlCol="0" anchor="t">
            <a:spAutoFit/>
          </a:bodyPr>
          <a:lstStyle/>
          <a:p>
            <a:pPr algn="ctr">
              <a:lnSpc>
                <a:spcPts val="2800"/>
              </a:lnSpc>
            </a:pPr>
            <a:r>
              <a:rPr lang="en-US" sz="2000" dirty="0">
                <a:solidFill>
                  <a:srgbClr val="000000"/>
                </a:solidFill>
                <a:latin typeface="Open Sauce"/>
                <a:ea typeface="Open Sauce"/>
                <a:cs typeface="Open Sauce"/>
                <a:sym typeface="Open Sauce"/>
              </a:rPr>
              <a:t>Recommendation</a:t>
            </a:r>
          </a:p>
        </p:txBody>
      </p:sp>
      <p:sp>
        <p:nvSpPr>
          <p:cNvPr id="25" name="TextBox 25"/>
          <p:cNvSpPr txBox="1"/>
          <p:nvPr/>
        </p:nvSpPr>
        <p:spPr>
          <a:xfrm>
            <a:off x="16509002" y="9350209"/>
            <a:ext cx="1162794" cy="349250"/>
          </a:xfrm>
          <a:prstGeom prst="rect">
            <a:avLst/>
          </a:prstGeom>
        </p:spPr>
        <p:txBody>
          <a:bodyPr lIns="0" tIns="0" rIns="0" bIns="0" rtlCol="0" anchor="t">
            <a:spAutoFit/>
          </a:bodyPr>
          <a:lstStyle/>
          <a:p>
            <a:pPr algn="ctr">
              <a:lnSpc>
                <a:spcPts val="2800"/>
              </a:lnSpc>
            </a:pPr>
            <a:r>
              <a:rPr lang="en-US" sz="2000">
                <a:solidFill>
                  <a:srgbClr val="000000"/>
                </a:solidFill>
                <a:latin typeface="Open Sauce"/>
                <a:ea typeface="Open Sauce"/>
                <a:cs typeface="Open Sauce"/>
                <a:sym typeface="Open Sauce"/>
              </a:rPr>
              <a:t>Appendix</a:t>
            </a:r>
          </a:p>
        </p:txBody>
      </p:sp>
      <p:sp>
        <p:nvSpPr>
          <p:cNvPr id="26" name="AutoShape 26"/>
          <p:cNvSpPr/>
          <p:nvPr/>
        </p:nvSpPr>
        <p:spPr>
          <a:xfrm>
            <a:off x="153670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sp>
        <p:nvSpPr>
          <p:cNvPr id="27" name="AutoShape 27"/>
          <p:cNvSpPr/>
          <p:nvPr/>
        </p:nvSpPr>
        <p:spPr>
          <a:xfrm>
            <a:off x="1076706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2F0"/>
        </a:solidFill>
        <a:effectLst/>
      </p:bgPr>
    </p:bg>
    <p:spTree>
      <p:nvGrpSpPr>
        <p:cNvPr id="1" name=""/>
        <p:cNvGrpSpPr/>
        <p:nvPr/>
      </p:nvGrpSpPr>
      <p:grpSpPr>
        <a:xfrm>
          <a:off x="0" y="0"/>
          <a:ext cx="0" cy="0"/>
          <a:chOff x="0" y="0"/>
          <a:chExt cx="0" cy="0"/>
        </a:xfrm>
      </p:grpSpPr>
      <p:grpSp>
        <p:nvGrpSpPr>
          <p:cNvPr id="2" name="Group 2"/>
          <p:cNvGrpSpPr/>
          <p:nvPr/>
        </p:nvGrpSpPr>
        <p:grpSpPr>
          <a:xfrm>
            <a:off x="1536700" y="8925252"/>
            <a:ext cx="337802" cy="337802"/>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5382900" y="8920498"/>
            <a:ext cx="337802" cy="33780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8" name="AutoShape 8"/>
          <p:cNvSpPr/>
          <p:nvPr/>
        </p:nvSpPr>
        <p:spPr>
          <a:xfrm>
            <a:off x="802894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9" name="Group 9"/>
          <p:cNvGrpSpPr/>
          <p:nvPr/>
        </p:nvGrpSpPr>
        <p:grpSpPr>
          <a:xfrm>
            <a:off x="9229099" y="8920498"/>
            <a:ext cx="337802" cy="33780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6921498" y="8920498"/>
            <a:ext cx="337802" cy="33780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3112256" y="8920498"/>
            <a:ext cx="337802" cy="33780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8" name="AutoShape 18"/>
          <p:cNvSpPr/>
          <p:nvPr/>
        </p:nvSpPr>
        <p:spPr>
          <a:xfrm>
            <a:off x="153670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sp>
        <p:nvSpPr>
          <p:cNvPr id="19" name="AutoShape 19"/>
          <p:cNvSpPr/>
          <p:nvPr/>
        </p:nvSpPr>
        <p:spPr>
          <a:xfrm>
            <a:off x="1076706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sp>
        <p:nvSpPr>
          <p:cNvPr id="20" name="Freeform 20"/>
          <p:cNvSpPr/>
          <p:nvPr/>
        </p:nvSpPr>
        <p:spPr>
          <a:xfrm>
            <a:off x="1028700" y="2777662"/>
            <a:ext cx="8453465" cy="5041259"/>
          </a:xfrm>
          <a:custGeom>
            <a:avLst/>
            <a:gdLst/>
            <a:ahLst/>
            <a:cxnLst/>
            <a:rect l="l" t="t" r="r" b="b"/>
            <a:pathLst>
              <a:path w="8453465" h="5041259">
                <a:moveTo>
                  <a:pt x="0" y="0"/>
                </a:moveTo>
                <a:lnTo>
                  <a:pt x="8453465" y="0"/>
                </a:lnTo>
                <a:lnTo>
                  <a:pt x="8453465" y="5041259"/>
                </a:lnTo>
                <a:lnTo>
                  <a:pt x="0" y="5041259"/>
                </a:lnTo>
                <a:lnTo>
                  <a:pt x="0" y="0"/>
                </a:lnTo>
                <a:close/>
              </a:path>
            </a:pathLst>
          </a:custGeom>
          <a:blipFill>
            <a:blip r:embed="rId2"/>
            <a:stretch>
              <a:fillRect/>
            </a:stretch>
          </a:blipFill>
        </p:spPr>
        <p:txBody>
          <a:bodyPr/>
          <a:lstStyle/>
          <a:p>
            <a:endParaRPr lang="en-US"/>
          </a:p>
        </p:txBody>
      </p:sp>
      <p:sp>
        <p:nvSpPr>
          <p:cNvPr id="21" name="TextBox 21"/>
          <p:cNvSpPr txBox="1"/>
          <p:nvPr/>
        </p:nvSpPr>
        <p:spPr>
          <a:xfrm>
            <a:off x="1028700" y="962025"/>
            <a:ext cx="11406762" cy="1216025"/>
          </a:xfrm>
          <a:prstGeom prst="rect">
            <a:avLst/>
          </a:prstGeom>
        </p:spPr>
        <p:txBody>
          <a:bodyPr lIns="0" tIns="0" rIns="0" bIns="0" rtlCol="0" anchor="t">
            <a:spAutoFit/>
          </a:bodyPr>
          <a:lstStyle/>
          <a:p>
            <a:pPr marL="0" lvl="0" indent="0" algn="l">
              <a:lnSpc>
                <a:spcPts val="4899"/>
              </a:lnSpc>
              <a:spcBef>
                <a:spcPct val="0"/>
              </a:spcBef>
            </a:pPr>
            <a:r>
              <a:rPr lang="en-US" sz="3499" b="1">
                <a:solidFill>
                  <a:srgbClr val="292961"/>
                </a:solidFill>
                <a:latin typeface="Open Sauce Bold"/>
                <a:ea typeface="Open Sauce Bold"/>
                <a:cs typeface="Open Sauce Bold"/>
                <a:sym typeface="Open Sauce Bold"/>
              </a:rPr>
              <a:t>INCREASED TRAFFIC AND CONVERSION RATES FAILED TO DRIVE MORE PURCHASES OR REVENUE</a:t>
            </a:r>
          </a:p>
        </p:txBody>
      </p:sp>
      <p:sp>
        <p:nvSpPr>
          <p:cNvPr id="22" name="TextBox 22"/>
          <p:cNvSpPr txBox="1"/>
          <p:nvPr/>
        </p:nvSpPr>
        <p:spPr>
          <a:xfrm>
            <a:off x="9959023" y="3438844"/>
            <a:ext cx="7300277" cy="3489325"/>
          </a:xfrm>
          <a:prstGeom prst="rect">
            <a:avLst/>
          </a:prstGeom>
        </p:spPr>
        <p:txBody>
          <a:bodyPr lIns="0" tIns="0" rIns="0" bIns="0" rtlCol="0" anchor="t">
            <a:spAutoFit/>
          </a:bodyPr>
          <a:lstStyle/>
          <a:p>
            <a:pPr algn="just">
              <a:lnSpc>
                <a:spcPts val="3499"/>
              </a:lnSpc>
            </a:pPr>
            <a:r>
              <a:rPr lang="en-US" sz="2499" b="1">
                <a:solidFill>
                  <a:srgbClr val="292961"/>
                </a:solidFill>
                <a:latin typeface="Open Sauce Bold"/>
                <a:ea typeface="Open Sauce Bold"/>
                <a:cs typeface="Open Sauce Bold"/>
                <a:sym typeface="Open Sauce Bold"/>
              </a:rPr>
              <a:t>Lower CR does not imply lower in amount of orders</a:t>
            </a:r>
            <a:r>
              <a:rPr lang="en-US" sz="2499">
                <a:solidFill>
                  <a:srgbClr val="292961"/>
                </a:solidFill>
                <a:latin typeface="Open Sauce"/>
                <a:ea typeface="Open Sauce"/>
                <a:cs typeface="Open Sauce"/>
                <a:sym typeface="Open Sauce"/>
              </a:rPr>
              <a:t>. As for Thursday, Saturday and Sunday, there were more orders, bills and traffic that are recorded. </a:t>
            </a:r>
            <a:r>
              <a:rPr lang="en-US" sz="2499" b="1">
                <a:solidFill>
                  <a:srgbClr val="292961"/>
                </a:solidFill>
                <a:latin typeface="Open Sauce Bold"/>
                <a:ea typeface="Open Sauce Bold"/>
                <a:cs typeface="Open Sauce Bold"/>
                <a:sym typeface="Open Sauce Bold"/>
              </a:rPr>
              <a:t>The closer it gets to the weekend, the more traffic the store attracts</a:t>
            </a:r>
            <a:r>
              <a:rPr lang="en-US" sz="2499">
                <a:solidFill>
                  <a:srgbClr val="292961"/>
                </a:solidFill>
                <a:latin typeface="Open Sauce"/>
                <a:ea typeface="Open Sauce"/>
                <a:cs typeface="Open Sauce"/>
                <a:sym typeface="Open Sauce"/>
              </a:rPr>
              <a:t>. The stores should allocate resources and plan certain strategies to take advantage of this naturally increased traffic.</a:t>
            </a:r>
          </a:p>
        </p:txBody>
      </p:sp>
      <p:sp>
        <p:nvSpPr>
          <p:cNvPr id="23" name="TextBox 23"/>
          <p:cNvSpPr txBox="1"/>
          <p:nvPr/>
        </p:nvSpPr>
        <p:spPr>
          <a:xfrm>
            <a:off x="969794" y="9365846"/>
            <a:ext cx="1575429" cy="328293"/>
          </a:xfrm>
          <a:prstGeom prst="rect">
            <a:avLst/>
          </a:prstGeom>
        </p:spPr>
        <p:txBody>
          <a:bodyPr wrap="square" lIns="0" tIns="0" rIns="0" bIns="0" rtlCol="0" anchor="t">
            <a:spAutoFit/>
          </a:bodyPr>
          <a:lstStyle/>
          <a:p>
            <a:pPr algn="ctr">
              <a:lnSpc>
                <a:spcPts val="2800"/>
              </a:lnSpc>
            </a:pPr>
            <a:r>
              <a:rPr lang="en-US" sz="2000" dirty="0">
                <a:solidFill>
                  <a:srgbClr val="000000"/>
                </a:solidFill>
                <a:latin typeface="Open Sauce"/>
                <a:ea typeface="Open Sauce"/>
                <a:cs typeface="Open Sauce"/>
                <a:sym typeface="Open Sauce"/>
              </a:rPr>
              <a:t>Background</a:t>
            </a:r>
          </a:p>
        </p:txBody>
      </p:sp>
      <p:sp>
        <p:nvSpPr>
          <p:cNvPr id="24" name="TextBox 24"/>
          <p:cNvSpPr txBox="1"/>
          <p:nvPr/>
        </p:nvSpPr>
        <p:spPr>
          <a:xfrm>
            <a:off x="4825370" y="9365846"/>
            <a:ext cx="1575430" cy="328295"/>
          </a:xfrm>
          <a:prstGeom prst="rect">
            <a:avLst/>
          </a:prstGeom>
        </p:spPr>
        <p:txBody>
          <a:bodyPr wrap="square" lIns="0" tIns="0" rIns="0" bIns="0" rtlCol="0" anchor="t">
            <a:spAutoFit/>
          </a:bodyPr>
          <a:lstStyle/>
          <a:p>
            <a:pPr algn="ctr">
              <a:lnSpc>
                <a:spcPts val="2800"/>
              </a:lnSpc>
            </a:pPr>
            <a:r>
              <a:rPr lang="en-US" sz="2000" dirty="0">
                <a:solidFill>
                  <a:srgbClr val="000000"/>
                </a:solidFill>
                <a:latin typeface="Open Sauce"/>
                <a:ea typeface="Open Sauce"/>
                <a:cs typeface="Open Sauce"/>
                <a:sym typeface="Open Sauce"/>
              </a:rPr>
              <a:t>Key </a:t>
            </a:r>
            <a:r>
              <a:rPr lang="en-US" sz="2000" dirty="0" err="1">
                <a:solidFill>
                  <a:srgbClr val="000000"/>
                </a:solidFill>
                <a:latin typeface="Open Sauce"/>
                <a:ea typeface="Open Sauce"/>
                <a:cs typeface="Open Sauce"/>
                <a:sym typeface="Open Sauce"/>
              </a:rPr>
              <a:t>isssues</a:t>
            </a:r>
            <a:endParaRPr lang="en-US" sz="2000" dirty="0">
              <a:solidFill>
                <a:srgbClr val="000000"/>
              </a:solidFill>
              <a:latin typeface="Open Sauce"/>
              <a:ea typeface="Open Sauce"/>
              <a:cs typeface="Open Sauce"/>
              <a:sym typeface="Open Sauce"/>
            </a:endParaRPr>
          </a:p>
        </p:txBody>
      </p:sp>
      <p:sp>
        <p:nvSpPr>
          <p:cNvPr id="25" name="TextBox 25"/>
          <p:cNvSpPr txBox="1"/>
          <p:nvPr/>
        </p:nvSpPr>
        <p:spPr>
          <a:xfrm>
            <a:off x="8866758" y="9365846"/>
            <a:ext cx="1062484" cy="328295"/>
          </a:xfrm>
          <a:prstGeom prst="rect">
            <a:avLst/>
          </a:prstGeom>
        </p:spPr>
        <p:txBody>
          <a:bodyPr lIns="0" tIns="0" rIns="0" bIns="0" rtlCol="0" anchor="t">
            <a:spAutoFit/>
          </a:bodyPr>
          <a:lstStyle/>
          <a:p>
            <a:pPr algn="ctr">
              <a:lnSpc>
                <a:spcPts val="2800"/>
              </a:lnSpc>
            </a:pPr>
            <a:r>
              <a:rPr lang="en-US" sz="2000" b="1">
                <a:solidFill>
                  <a:srgbClr val="FFFFFF"/>
                </a:solidFill>
                <a:highlight>
                  <a:srgbClr val="000000"/>
                </a:highlight>
                <a:latin typeface="Open Sauce Bold"/>
                <a:ea typeface="Open Sauce Bold"/>
                <a:cs typeface="Open Sauce Bold"/>
                <a:sym typeface="Open Sauce Bold"/>
              </a:rPr>
              <a:t>Analysis</a:t>
            </a:r>
          </a:p>
        </p:txBody>
      </p:sp>
      <p:sp>
        <p:nvSpPr>
          <p:cNvPr id="26" name="TextBox 26"/>
          <p:cNvSpPr txBox="1"/>
          <p:nvPr/>
        </p:nvSpPr>
        <p:spPr>
          <a:xfrm>
            <a:off x="12197762" y="9350209"/>
            <a:ext cx="2204038" cy="328290"/>
          </a:xfrm>
          <a:prstGeom prst="rect">
            <a:avLst/>
          </a:prstGeom>
        </p:spPr>
        <p:txBody>
          <a:bodyPr wrap="square" lIns="0" tIns="0" rIns="0" bIns="0" rtlCol="0" anchor="t">
            <a:spAutoFit/>
          </a:bodyPr>
          <a:lstStyle/>
          <a:p>
            <a:pPr algn="ctr">
              <a:lnSpc>
                <a:spcPts val="2800"/>
              </a:lnSpc>
            </a:pPr>
            <a:r>
              <a:rPr lang="en-US" sz="2000" dirty="0">
                <a:solidFill>
                  <a:srgbClr val="000000"/>
                </a:solidFill>
                <a:latin typeface="Open Sauce"/>
                <a:ea typeface="Open Sauce"/>
                <a:cs typeface="Open Sauce"/>
                <a:sym typeface="Open Sauce"/>
              </a:rPr>
              <a:t>Recommendation</a:t>
            </a:r>
          </a:p>
        </p:txBody>
      </p:sp>
      <p:sp>
        <p:nvSpPr>
          <p:cNvPr id="27" name="TextBox 27"/>
          <p:cNvSpPr txBox="1"/>
          <p:nvPr/>
        </p:nvSpPr>
        <p:spPr>
          <a:xfrm>
            <a:off x="16509002" y="9350209"/>
            <a:ext cx="1162794" cy="349250"/>
          </a:xfrm>
          <a:prstGeom prst="rect">
            <a:avLst/>
          </a:prstGeom>
        </p:spPr>
        <p:txBody>
          <a:bodyPr lIns="0" tIns="0" rIns="0" bIns="0" rtlCol="0" anchor="t">
            <a:spAutoFit/>
          </a:bodyPr>
          <a:lstStyle/>
          <a:p>
            <a:pPr algn="ctr">
              <a:lnSpc>
                <a:spcPts val="2800"/>
              </a:lnSpc>
            </a:pPr>
            <a:r>
              <a:rPr lang="en-US" sz="2000">
                <a:solidFill>
                  <a:srgbClr val="000000"/>
                </a:solidFill>
                <a:latin typeface="Open Sauce"/>
                <a:ea typeface="Open Sauce"/>
                <a:cs typeface="Open Sauce"/>
                <a:sym typeface="Open Sauce"/>
              </a:rPr>
              <a:t>Appendix</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92961"/>
        </a:solidFill>
        <a:effectLst/>
      </p:bgPr>
    </p:bg>
    <p:spTree>
      <p:nvGrpSpPr>
        <p:cNvPr id="1" name=""/>
        <p:cNvGrpSpPr/>
        <p:nvPr/>
      </p:nvGrpSpPr>
      <p:grpSpPr>
        <a:xfrm>
          <a:off x="0" y="0"/>
          <a:ext cx="0" cy="0"/>
          <a:chOff x="0" y="0"/>
          <a:chExt cx="0" cy="0"/>
        </a:xfrm>
      </p:grpSpPr>
      <p:sp>
        <p:nvSpPr>
          <p:cNvPr id="2" name="Freeform 2"/>
          <p:cNvSpPr/>
          <p:nvPr/>
        </p:nvSpPr>
        <p:spPr>
          <a:xfrm>
            <a:off x="3493371" y="2148454"/>
            <a:ext cx="11301259" cy="4026074"/>
          </a:xfrm>
          <a:custGeom>
            <a:avLst/>
            <a:gdLst/>
            <a:ahLst/>
            <a:cxnLst/>
            <a:rect l="l" t="t" r="r" b="b"/>
            <a:pathLst>
              <a:path w="11301259" h="4026074">
                <a:moveTo>
                  <a:pt x="0" y="0"/>
                </a:moveTo>
                <a:lnTo>
                  <a:pt x="11301258" y="0"/>
                </a:lnTo>
                <a:lnTo>
                  <a:pt x="11301258" y="4026074"/>
                </a:lnTo>
                <a:lnTo>
                  <a:pt x="0" y="4026074"/>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984696" y="962025"/>
            <a:ext cx="14673379" cy="596900"/>
          </a:xfrm>
          <a:prstGeom prst="rect">
            <a:avLst/>
          </a:prstGeom>
        </p:spPr>
        <p:txBody>
          <a:bodyPr lIns="0" tIns="0" rIns="0" bIns="0" rtlCol="0" anchor="t">
            <a:spAutoFit/>
          </a:bodyPr>
          <a:lstStyle/>
          <a:p>
            <a:pPr marL="0" lvl="0" indent="0" algn="l">
              <a:lnSpc>
                <a:spcPts val="4899"/>
              </a:lnSpc>
              <a:spcBef>
                <a:spcPct val="0"/>
              </a:spcBef>
            </a:pPr>
            <a:r>
              <a:rPr lang="en-US" sz="3499" b="1">
                <a:solidFill>
                  <a:srgbClr val="EAEAE2"/>
                </a:solidFill>
                <a:latin typeface="Open Sauce Bold"/>
                <a:ea typeface="Open Sauce Bold"/>
                <a:cs typeface="Open Sauce Bold"/>
                <a:sym typeface="Open Sauce Bold"/>
              </a:rPr>
              <a:t>WEAK UPSELL CAPABILITY</a:t>
            </a:r>
          </a:p>
        </p:txBody>
      </p:sp>
      <p:sp>
        <p:nvSpPr>
          <p:cNvPr id="4" name="AutoShape 4"/>
          <p:cNvSpPr/>
          <p:nvPr/>
        </p:nvSpPr>
        <p:spPr>
          <a:xfrm>
            <a:off x="153670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sp>
        <p:nvSpPr>
          <p:cNvPr id="5" name="AutoShape 5"/>
          <p:cNvSpPr/>
          <p:nvPr/>
        </p:nvSpPr>
        <p:spPr>
          <a:xfrm>
            <a:off x="802894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sp>
        <p:nvSpPr>
          <p:cNvPr id="6" name="AutoShape 6"/>
          <p:cNvSpPr/>
          <p:nvPr/>
        </p:nvSpPr>
        <p:spPr>
          <a:xfrm>
            <a:off x="1076706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7" name="Group 7"/>
          <p:cNvGrpSpPr/>
          <p:nvPr/>
        </p:nvGrpSpPr>
        <p:grpSpPr>
          <a:xfrm>
            <a:off x="1536700" y="8925252"/>
            <a:ext cx="337802" cy="337802"/>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5382900" y="8920498"/>
            <a:ext cx="337802" cy="33780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9229099" y="8920498"/>
            <a:ext cx="337802" cy="337802"/>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en-US"/>
            </a:p>
          </p:txBody>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6921498" y="8920498"/>
            <a:ext cx="337802" cy="337802"/>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3112256" y="8920498"/>
            <a:ext cx="337802" cy="337802"/>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21" name="TextBox 2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2" name="TextBox 22"/>
          <p:cNvSpPr txBox="1"/>
          <p:nvPr/>
        </p:nvSpPr>
        <p:spPr>
          <a:xfrm>
            <a:off x="969794" y="9365846"/>
            <a:ext cx="1587055" cy="333610"/>
          </a:xfrm>
          <a:prstGeom prst="rect">
            <a:avLst/>
          </a:prstGeom>
        </p:spPr>
        <p:txBody>
          <a:bodyPr wrap="square" lIns="0" tIns="0" rIns="0" bIns="0" rtlCol="0" anchor="t">
            <a:spAutoFit/>
          </a:bodyPr>
          <a:lstStyle/>
          <a:p>
            <a:pPr algn="ctr">
              <a:lnSpc>
                <a:spcPts val="2800"/>
              </a:lnSpc>
            </a:pPr>
            <a:r>
              <a:rPr lang="en-US" sz="2000" dirty="0">
                <a:solidFill>
                  <a:srgbClr val="FFFFFF"/>
                </a:solidFill>
                <a:latin typeface="Open Sauce"/>
                <a:ea typeface="Open Sauce"/>
                <a:cs typeface="Open Sauce"/>
                <a:sym typeface="Open Sauce"/>
              </a:rPr>
              <a:t>Background</a:t>
            </a:r>
          </a:p>
        </p:txBody>
      </p:sp>
      <p:sp>
        <p:nvSpPr>
          <p:cNvPr id="23" name="TextBox 23"/>
          <p:cNvSpPr txBox="1"/>
          <p:nvPr/>
        </p:nvSpPr>
        <p:spPr>
          <a:xfrm>
            <a:off x="4825370" y="9365845"/>
            <a:ext cx="1587054" cy="328295"/>
          </a:xfrm>
          <a:prstGeom prst="rect">
            <a:avLst/>
          </a:prstGeom>
        </p:spPr>
        <p:txBody>
          <a:bodyPr wrap="square" lIns="0" tIns="0" rIns="0" bIns="0" rtlCol="0" anchor="t">
            <a:spAutoFit/>
          </a:bodyPr>
          <a:lstStyle/>
          <a:p>
            <a:pPr algn="ctr">
              <a:lnSpc>
                <a:spcPts val="2800"/>
              </a:lnSpc>
            </a:pPr>
            <a:r>
              <a:rPr lang="en-US" sz="2000" dirty="0">
                <a:solidFill>
                  <a:srgbClr val="FFFFFF"/>
                </a:solidFill>
                <a:latin typeface="Open Sauce"/>
                <a:ea typeface="Open Sauce"/>
                <a:cs typeface="Open Sauce"/>
                <a:sym typeface="Open Sauce"/>
              </a:rPr>
              <a:t>Key </a:t>
            </a:r>
            <a:r>
              <a:rPr lang="en-US" sz="2000" dirty="0" err="1">
                <a:solidFill>
                  <a:srgbClr val="FFFFFF"/>
                </a:solidFill>
                <a:latin typeface="Open Sauce"/>
                <a:ea typeface="Open Sauce"/>
                <a:cs typeface="Open Sauce"/>
                <a:sym typeface="Open Sauce"/>
              </a:rPr>
              <a:t>isssues</a:t>
            </a:r>
            <a:endParaRPr lang="en-US" sz="2000" dirty="0">
              <a:solidFill>
                <a:srgbClr val="FFFFFF"/>
              </a:solidFill>
              <a:latin typeface="Open Sauce"/>
              <a:ea typeface="Open Sauce"/>
              <a:cs typeface="Open Sauce"/>
              <a:sym typeface="Open Sauce"/>
            </a:endParaRPr>
          </a:p>
        </p:txBody>
      </p:sp>
      <p:sp>
        <p:nvSpPr>
          <p:cNvPr id="24" name="TextBox 24"/>
          <p:cNvSpPr txBox="1"/>
          <p:nvPr/>
        </p:nvSpPr>
        <p:spPr>
          <a:xfrm>
            <a:off x="8866758" y="9365846"/>
            <a:ext cx="1062484" cy="328295"/>
          </a:xfrm>
          <a:prstGeom prst="rect">
            <a:avLst/>
          </a:prstGeom>
        </p:spPr>
        <p:txBody>
          <a:bodyPr lIns="0" tIns="0" rIns="0" bIns="0" rtlCol="0" anchor="t">
            <a:spAutoFit/>
          </a:bodyPr>
          <a:lstStyle/>
          <a:p>
            <a:pPr algn="ctr">
              <a:lnSpc>
                <a:spcPts val="2800"/>
              </a:lnSpc>
            </a:pPr>
            <a:r>
              <a:rPr lang="en-US" sz="2000" b="1" dirty="0">
                <a:solidFill>
                  <a:srgbClr val="FFFFFF"/>
                </a:solidFill>
                <a:highlight>
                  <a:srgbClr val="000000"/>
                </a:highlight>
                <a:latin typeface="Open Sauce Bold"/>
                <a:ea typeface="Open Sauce Bold"/>
                <a:cs typeface="Open Sauce Bold"/>
                <a:sym typeface="Open Sauce Bold"/>
              </a:rPr>
              <a:t>Analysis</a:t>
            </a:r>
          </a:p>
        </p:txBody>
      </p:sp>
      <p:sp>
        <p:nvSpPr>
          <p:cNvPr id="25" name="TextBox 25"/>
          <p:cNvSpPr txBox="1"/>
          <p:nvPr/>
        </p:nvSpPr>
        <p:spPr>
          <a:xfrm>
            <a:off x="12197762" y="9350209"/>
            <a:ext cx="2204038" cy="328295"/>
          </a:xfrm>
          <a:prstGeom prst="rect">
            <a:avLst/>
          </a:prstGeom>
        </p:spPr>
        <p:txBody>
          <a:bodyPr wrap="square" lIns="0" tIns="0" rIns="0" bIns="0" rtlCol="0" anchor="t">
            <a:spAutoFit/>
          </a:bodyPr>
          <a:lstStyle/>
          <a:p>
            <a:pPr algn="ctr">
              <a:lnSpc>
                <a:spcPts val="2800"/>
              </a:lnSpc>
            </a:pPr>
            <a:r>
              <a:rPr lang="en-US" sz="2000" dirty="0">
                <a:solidFill>
                  <a:srgbClr val="EAEAE2"/>
                </a:solidFill>
                <a:latin typeface="Open Sauce"/>
                <a:ea typeface="Open Sauce"/>
                <a:cs typeface="Open Sauce"/>
                <a:sym typeface="Open Sauce"/>
              </a:rPr>
              <a:t>Recommendation</a:t>
            </a:r>
          </a:p>
        </p:txBody>
      </p:sp>
      <p:sp>
        <p:nvSpPr>
          <p:cNvPr id="26" name="TextBox 26"/>
          <p:cNvSpPr txBox="1"/>
          <p:nvPr/>
        </p:nvSpPr>
        <p:spPr>
          <a:xfrm>
            <a:off x="16509002" y="9350209"/>
            <a:ext cx="1162794" cy="349250"/>
          </a:xfrm>
          <a:prstGeom prst="rect">
            <a:avLst/>
          </a:prstGeom>
        </p:spPr>
        <p:txBody>
          <a:bodyPr lIns="0" tIns="0" rIns="0" bIns="0" rtlCol="0" anchor="t">
            <a:spAutoFit/>
          </a:bodyPr>
          <a:lstStyle/>
          <a:p>
            <a:pPr algn="ctr">
              <a:lnSpc>
                <a:spcPts val="2800"/>
              </a:lnSpc>
            </a:pPr>
            <a:r>
              <a:rPr lang="en-US" sz="2000">
                <a:solidFill>
                  <a:srgbClr val="EAEAE2"/>
                </a:solidFill>
                <a:latin typeface="Open Sauce"/>
                <a:ea typeface="Open Sauce"/>
                <a:cs typeface="Open Sauce"/>
                <a:sym typeface="Open Sauce"/>
              </a:rPr>
              <a:t>Appendix</a:t>
            </a:r>
          </a:p>
        </p:txBody>
      </p:sp>
      <p:sp>
        <p:nvSpPr>
          <p:cNvPr id="27" name="TextBox 27"/>
          <p:cNvSpPr txBox="1"/>
          <p:nvPr/>
        </p:nvSpPr>
        <p:spPr>
          <a:xfrm>
            <a:off x="1028700" y="6716432"/>
            <a:ext cx="16274604" cy="1298575"/>
          </a:xfrm>
          <a:prstGeom prst="rect">
            <a:avLst/>
          </a:prstGeom>
        </p:spPr>
        <p:txBody>
          <a:bodyPr lIns="0" tIns="0" rIns="0" bIns="0" rtlCol="0" anchor="t">
            <a:spAutoFit/>
          </a:bodyPr>
          <a:lstStyle/>
          <a:p>
            <a:pPr algn="just">
              <a:lnSpc>
                <a:spcPts val="3499"/>
              </a:lnSpc>
            </a:pPr>
            <a:r>
              <a:rPr lang="en-US" sz="2499">
                <a:solidFill>
                  <a:srgbClr val="EAEAE2"/>
                </a:solidFill>
                <a:latin typeface="Open Sauce"/>
                <a:ea typeface="Open Sauce"/>
                <a:cs typeface="Open Sauce"/>
                <a:sym typeface="Open Sauce"/>
              </a:rPr>
              <a:t>UPT was below 2 units across all weekdays, which was quite low compared to the fashion retail benchmark (2.2–2.5). There was a noticeable drop in UPT and APT during the middle of the week. This currently shows that the store did not have a mechanism to attract customers on these “quiet” days.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92961"/>
        </a:solidFill>
        <a:effectLst/>
      </p:bgPr>
    </p:bg>
    <p:spTree>
      <p:nvGrpSpPr>
        <p:cNvPr id="1" name=""/>
        <p:cNvGrpSpPr/>
        <p:nvPr/>
      </p:nvGrpSpPr>
      <p:grpSpPr>
        <a:xfrm>
          <a:off x="0" y="0"/>
          <a:ext cx="0" cy="0"/>
          <a:chOff x="0" y="0"/>
          <a:chExt cx="0" cy="0"/>
        </a:xfrm>
      </p:grpSpPr>
      <p:sp>
        <p:nvSpPr>
          <p:cNvPr id="2" name="TextBox 2"/>
          <p:cNvSpPr txBox="1"/>
          <p:nvPr/>
        </p:nvSpPr>
        <p:spPr>
          <a:xfrm>
            <a:off x="984696" y="962025"/>
            <a:ext cx="14673379" cy="596900"/>
          </a:xfrm>
          <a:prstGeom prst="rect">
            <a:avLst/>
          </a:prstGeom>
        </p:spPr>
        <p:txBody>
          <a:bodyPr lIns="0" tIns="0" rIns="0" bIns="0" rtlCol="0" anchor="t">
            <a:spAutoFit/>
          </a:bodyPr>
          <a:lstStyle/>
          <a:p>
            <a:pPr marL="0" lvl="0" indent="0" algn="l">
              <a:lnSpc>
                <a:spcPts val="4899"/>
              </a:lnSpc>
              <a:spcBef>
                <a:spcPct val="0"/>
              </a:spcBef>
            </a:pPr>
            <a:r>
              <a:rPr lang="en-US" sz="3499" b="1">
                <a:solidFill>
                  <a:srgbClr val="EAEAE2"/>
                </a:solidFill>
                <a:latin typeface="Open Sauce Bold"/>
                <a:ea typeface="Open Sauce Bold"/>
                <a:cs typeface="Open Sauce Bold"/>
                <a:sym typeface="Open Sauce Bold"/>
              </a:rPr>
              <a:t>WEAK UPSELL CAPABILITY</a:t>
            </a:r>
          </a:p>
        </p:txBody>
      </p:sp>
      <p:sp>
        <p:nvSpPr>
          <p:cNvPr id="3" name="AutoShape 3"/>
          <p:cNvSpPr/>
          <p:nvPr/>
        </p:nvSpPr>
        <p:spPr>
          <a:xfrm>
            <a:off x="153670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sp>
        <p:nvSpPr>
          <p:cNvPr id="4" name="AutoShape 4"/>
          <p:cNvSpPr/>
          <p:nvPr/>
        </p:nvSpPr>
        <p:spPr>
          <a:xfrm>
            <a:off x="802894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sp>
        <p:nvSpPr>
          <p:cNvPr id="5" name="AutoShape 5"/>
          <p:cNvSpPr/>
          <p:nvPr/>
        </p:nvSpPr>
        <p:spPr>
          <a:xfrm>
            <a:off x="1076706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6" name="Group 6"/>
          <p:cNvGrpSpPr/>
          <p:nvPr/>
        </p:nvGrpSpPr>
        <p:grpSpPr>
          <a:xfrm>
            <a:off x="1536700" y="8925252"/>
            <a:ext cx="337802" cy="33780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5382900" y="8920498"/>
            <a:ext cx="337802" cy="33780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9229099" y="8920498"/>
            <a:ext cx="337802" cy="33780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en-US"/>
            </a:p>
          </p:txBody>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6921498" y="8920498"/>
            <a:ext cx="337802" cy="33780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3112256" y="8920498"/>
            <a:ext cx="337802" cy="33780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1" name="TextBox 21"/>
          <p:cNvSpPr txBox="1"/>
          <p:nvPr/>
        </p:nvSpPr>
        <p:spPr>
          <a:xfrm>
            <a:off x="969794" y="9365845"/>
            <a:ext cx="1587055" cy="328295"/>
          </a:xfrm>
          <a:prstGeom prst="rect">
            <a:avLst/>
          </a:prstGeom>
        </p:spPr>
        <p:txBody>
          <a:bodyPr wrap="square" lIns="0" tIns="0" rIns="0" bIns="0" rtlCol="0" anchor="t">
            <a:spAutoFit/>
          </a:bodyPr>
          <a:lstStyle/>
          <a:p>
            <a:pPr algn="ctr">
              <a:lnSpc>
                <a:spcPts val="2800"/>
              </a:lnSpc>
            </a:pPr>
            <a:r>
              <a:rPr lang="en-US" sz="2000" dirty="0">
                <a:solidFill>
                  <a:srgbClr val="FFFFFF"/>
                </a:solidFill>
                <a:latin typeface="Open Sauce"/>
                <a:ea typeface="Open Sauce"/>
                <a:cs typeface="Open Sauce"/>
                <a:sym typeface="Open Sauce"/>
              </a:rPr>
              <a:t>Background</a:t>
            </a:r>
          </a:p>
        </p:txBody>
      </p:sp>
      <p:sp>
        <p:nvSpPr>
          <p:cNvPr id="22" name="TextBox 22"/>
          <p:cNvSpPr txBox="1"/>
          <p:nvPr/>
        </p:nvSpPr>
        <p:spPr>
          <a:xfrm>
            <a:off x="4825369" y="9365845"/>
            <a:ext cx="1587055" cy="328295"/>
          </a:xfrm>
          <a:prstGeom prst="rect">
            <a:avLst/>
          </a:prstGeom>
        </p:spPr>
        <p:txBody>
          <a:bodyPr wrap="square" lIns="0" tIns="0" rIns="0" bIns="0" rtlCol="0" anchor="t">
            <a:spAutoFit/>
          </a:bodyPr>
          <a:lstStyle/>
          <a:p>
            <a:pPr algn="ctr">
              <a:lnSpc>
                <a:spcPts val="2800"/>
              </a:lnSpc>
            </a:pPr>
            <a:r>
              <a:rPr lang="en-US" sz="2000" dirty="0">
                <a:solidFill>
                  <a:srgbClr val="FFFFFF"/>
                </a:solidFill>
                <a:latin typeface="Open Sauce"/>
                <a:ea typeface="Open Sauce"/>
                <a:cs typeface="Open Sauce"/>
                <a:sym typeface="Open Sauce"/>
              </a:rPr>
              <a:t>Key </a:t>
            </a:r>
            <a:r>
              <a:rPr lang="en-US" sz="2000" dirty="0" err="1">
                <a:solidFill>
                  <a:srgbClr val="FFFFFF"/>
                </a:solidFill>
                <a:latin typeface="Open Sauce"/>
                <a:ea typeface="Open Sauce"/>
                <a:cs typeface="Open Sauce"/>
                <a:sym typeface="Open Sauce"/>
              </a:rPr>
              <a:t>isssues</a:t>
            </a:r>
            <a:endParaRPr lang="en-US" sz="2000" dirty="0">
              <a:solidFill>
                <a:srgbClr val="FFFFFF"/>
              </a:solidFill>
              <a:latin typeface="Open Sauce"/>
              <a:ea typeface="Open Sauce"/>
              <a:cs typeface="Open Sauce"/>
              <a:sym typeface="Open Sauce"/>
            </a:endParaRPr>
          </a:p>
        </p:txBody>
      </p:sp>
      <p:sp>
        <p:nvSpPr>
          <p:cNvPr id="23" name="TextBox 23"/>
          <p:cNvSpPr txBox="1"/>
          <p:nvPr/>
        </p:nvSpPr>
        <p:spPr>
          <a:xfrm>
            <a:off x="8866758" y="9365846"/>
            <a:ext cx="1062484" cy="328295"/>
          </a:xfrm>
          <a:prstGeom prst="rect">
            <a:avLst/>
          </a:prstGeom>
        </p:spPr>
        <p:txBody>
          <a:bodyPr lIns="0" tIns="0" rIns="0" bIns="0" rtlCol="0" anchor="t">
            <a:spAutoFit/>
          </a:bodyPr>
          <a:lstStyle/>
          <a:p>
            <a:pPr algn="ctr">
              <a:lnSpc>
                <a:spcPts val="2800"/>
              </a:lnSpc>
            </a:pPr>
            <a:r>
              <a:rPr lang="en-US" sz="2000" b="1">
                <a:solidFill>
                  <a:srgbClr val="FFFFFF"/>
                </a:solidFill>
                <a:highlight>
                  <a:srgbClr val="000000"/>
                </a:highlight>
                <a:latin typeface="Open Sauce Bold"/>
                <a:ea typeface="Open Sauce Bold"/>
                <a:cs typeface="Open Sauce Bold"/>
                <a:sym typeface="Open Sauce Bold"/>
              </a:rPr>
              <a:t>Analysis</a:t>
            </a:r>
          </a:p>
        </p:txBody>
      </p:sp>
      <p:sp>
        <p:nvSpPr>
          <p:cNvPr id="24" name="TextBox 24"/>
          <p:cNvSpPr txBox="1"/>
          <p:nvPr/>
        </p:nvSpPr>
        <p:spPr>
          <a:xfrm>
            <a:off x="12197762" y="9350208"/>
            <a:ext cx="2280238" cy="328295"/>
          </a:xfrm>
          <a:prstGeom prst="rect">
            <a:avLst/>
          </a:prstGeom>
        </p:spPr>
        <p:txBody>
          <a:bodyPr wrap="square" lIns="0" tIns="0" rIns="0" bIns="0" rtlCol="0" anchor="t">
            <a:spAutoFit/>
          </a:bodyPr>
          <a:lstStyle/>
          <a:p>
            <a:pPr algn="ctr">
              <a:lnSpc>
                <a:spcPts val="2800"/>
              </a:lnSpc>
            </a:pPr>
            <a:r>
              <a:rPr lang="en-US" sz="2000" dirty="0">
                <a:solidFill>
                  <a:srgbClr val="EAEAE2"/>
                </a:solidFill>
                <a:latin typeface="Open Sauce"/>
                <a:ea typeface="Open Sauce"/>
                <a:cs typeface="Open Sauce"/>
                <a:sym typeface="Open Sauce"/>
              </a:rPr>
              <a:t>Recommendation</a:t>
            </a:r>
          </a:p>
        </p:txBody>
      </p:sp>
      <p:sp>
        <p:nvSpPr>
          <p:cNvPr id="25" name="TextBox 25"/>
          <p:cNvSpPr txBox="1"/>
          <p:nvPr/>
        </p:nvSpPr>
        <p:spPr>
          <a:xfrm>
            <a:off x="16509002" y="9350209"/>
            <a:ext cx="1162794" cy="349250"/>
          </a:xfrm>
          <a:prstGeom prst="rect">
            <a:avLst/>
          </a:prstGeom>
        </p:spPr>
        <p:txBody>
          <a:bodyPr lIns="0" tIns="0" rIns="0" bIns="0" rtlCol="0" anchor="t">
            <a:spAutoFit/>
          </a:bodyPr>
          <a:lstStyle/>
          <a:p>
            <a:pPr algn="ctr">
              <a:lnSpc>
                <a:spcPts val="2800"/>
              </a:lnSpc>
            </a:pPr>
            <a:r>
              <a:rPr lang="en-US" sz="2000">
                <a:solidFill>
                  <a:srgbClr val="EAEAE2"/>
                </a:solidFill>
                <a:latin typeface="Open Sauce"/>
                <a:ea typeface="Open Sauce"/>
                <a:cs typeface="Open Sauce"/>
                <a:sym typeface="Open Sauce"/>
              </a:rPr>
              <a:t>Appendix</a:t>
            </a:r>
          </a:p>
        </p:txBody>
      </p:sp>
      <p:sp>
        <p:nvSpPr>
          <p:cNvPr id="26" name="TextBox 26"/>
          <p:cNvSpPr txBox="1"/>
          <p:nvPr/>
        </p:nvSpPr>
        <p:spPr>
          <a:xfrm>
            <a:off x="12462501" y="2279650"/>
            <a:ext cx="4796799" cy="5680075"/>
          </a:xfrm>
          <a:prstGeom prst="rect">
            <a:avLst/>
          </a:prstGeom>
        </p:spPr>
        <p:txBody>
          <a:bodyPr lIns="0" tIns="0" rIns="0" bIns="0" rtlCol="0" anchor="t">
            <a:spAutoFit/>
          </a:bodyPr>
          <a:lstStyle/>
          <a:p>
            <a:pPr algn="just">
              <a:lnSpc>
                <a:spcPts val="3499"/>
              </a:lnSpc>
            </a:pPr>
            <a:r>
              <a:rPr lang="en-US" sz="2499">
                <a:solidFill>
                  <a:srgbClr val="EAEAE2"/>
                </a:solidFill>
                <a:latin typeface="Open Sauce"/>
                <a:ea typeface="Open Sauce"/>
                <a:cs typeface="Open Sauce"/>
                <a:sym typeface="Open Sauce"/>
              </a:rPr>
              <a:t>Most of the product’s price is from 210K to 310K, but the APT was around 550K and UPT around 1,8. This can be understood that </a:t>
            </a:r>
            <a:r>
              <a:rPr lang="en-US" sz="2499" b="1">
                <a:solidFill>
                  <a:srgbClr val="EAEAE2"/>
                </a:solidFill>
                <a:latin typeface="Open Sauce Bold"/>
                <a:ea typeface="Open Sauce Bold"/>
                <a:cs typeface="Open Sauce Bold"/>
                <a:sym typeface="Open Sauce Bold"/>
              </a:rPr>
              <a:t>customers were buying 2 items</a:t>
            </a:r>
            <a:r>
              <a:rPr lang="en-US" sz="2499">
                <a:solidFill>
                  <a:srgbClr val="EAEAE2"/>
                </a:solidFill>
                <a:latin typeface="Open Sauce"/>
                <a:ea typeface="Open Sauce"/>
                <a:cs typeface="Open Sauce"/>
                <a:sym typeface="Open Sauce"/>
              </a:rPr>
              <a:t> at this price range, </a:t>
            </a:r>
            <a:r>
              <a:rPr lang="en-US" sz="2499" b="1">
                <a:solidFill>
                  <a:srgbClr val="EAEAE2"/>
                </a:solidFill>
                <a:latin typeface="Open Sauce Bold"/>
                <a:ea typeface="Open Sauce Bold"/>
                <a:cs typeface="Open Sauce Bold"/>
                <a:sym typeface="Open Sauce Bold"/>
              </a:rPr>
              <a:t>rather than buying a more expensive product</a:t>
            </a:r>
            <a:r>
              <a:rPr lang="en-US" sz="2499">
                <a:solidFill>
                  <a:srgbClr val="EAEAE2"/>
                </a:solidFill>
                <a:latin typeface="Open Sauce"/>
                <a:ea typeface="Open Sauce"/>
                <a:cs typeface="Open Sauce"/>
                <a:sym typeface="Open Sauce"/>
              </a:rPr>
              <a:t>. Therefore, if the store can push the ASP by upselling, the revenue would be higher without the need for more customers or orders.</a:t>
            </a:r>
          </a:p>
        </p:txBody>
      </p:sp>
      <p:sp>
        <p:nvSpPr>
          <p:cNvPr id="27" name="Freeform 27"/>
          <p:cNvSpPr/>
          <p:nvPr/>
        </p:nvSpPr>
        <p:spPr>
          <a:xfrm>
            <a:off x="969795" y="1898812"/>
            <a:ext cx="11022296" cy="6489377"/>
          </a:xfrm>
          <a:custGeom>
            <a:avLst/>
            <a:gdLst/>
            <a:ahLst/>
            <a:cxnLst/>
            <a:rect l="l" t="t" r="r" b="b"/>
            <a:pathLst>
              <a:path w="11022296" h="6489377">
                <a:moveTo>
                  <a:pt x="0" y="0"/>
                </a:moveTo>
                <a:lnTo>
                  <a:pt x="11022296" y="0"/>
                </a:lnTo>
                <a:lnTo>
                  <a:pt x="11022296" y="6489376"/>
                </a:lnTo>
                <a:lnTo>
                  <a:pt x="0" y="6489376"/>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2F0"/>
        </a:solidFill>
        <a:effectLst/>
      </p:bgPr>
    </p:bg>
    <p:spTree>
      <p:nvGrpSpPr>
        <p:cNvPr id="1" name=""/>
        <p:cNvGrpSpPr/>
        <p:nvPr/>
      </p:nvGrpSpPr>
      <p:grpSpPr>
        <a:xfrm>
          <a:off x="0" y="0"/>
          <a:ext cx="0" cy="0"/>
          <a:chOff x="0" y="0"/>
          <a:chExt cx="0" cy="0"/>
        </a:xfrm>
      </p:grpSpPr>
      <p:grpSp>
        <p:nvGrpSpPr>
          <p:cNvPr id="2" name="Group 2"/>
          <p:cNvGrpSpPr/>
          <p:nvPr/>
        </p:nvGrpSpPr>
        <p:grpSpPr>
          <a:xfrm>
            <a:off x="1536700" y="8925252"/>
            <a:ext cx="337802" cy="337802"/>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5382900" y="8920498"/>
            <a:ext cx="337802" cy="33780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8" name="AutoShape 8"/>
          <p:cNvSpPr/>
          <p:nvPr/>
        </p:nvSpPr>
        <p:spPr>
          <a:xfrm>
            <a:off x="1076706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sp>
        <p:nvSpPr>
          <p:cNvPr id="9" name="AutoShape 9"/>
          <p:cNvSpPr/>
          <p:nvPr/>
        </p:nvSpPr>
        <p:spPr>
          <a:xfrm>
            <a:off x="802894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10" name="Group 10"/>
          <p:cNvGrpSpPr/>
          <p:nvPr/>
        </p:nvGrpSpPr>
        <p:grpSpPr>
          <a:xfrm>
            <a:off x="9229099" y="8920498"/>
            <a:ext cx="337802" cy="33780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6921498" y="8920498"/>
            <a:ext cx="337802" cy="337802"/>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3112256" y="8920498"/>
            <a:ext cx="337802" cy="337802"/>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en-US"/>
            </a:p>
          </p:txBody>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AutoShape 19"/>
          <p:cNvSpPr/>
          <p:nvPr/>
        </p:nvSpPr>
        <p:spPr>
          <a:xfrm>
            <a:off x="153670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sp>
        <p:nvSpPr>
          <p:cNvPr id="20" name="TextBox 20"/>
          <p:cNvSpPr txBox="1"/>
          <p:nvPr/>
        </p:nvSpPr>
        <p:spPr>
          <a:xfrm>
            <a:off x="1028700" y="971550"/>
            <a:ext cx="16230600" cy="537845"/>
          </a:xfrm>
          <a:prstGeom prst="rect">
            <a:avLst/>
          </a:prstGeom>
        </p:spPr>
        <p:txBody>
          <a:bodyPr lIns="0" tIns="0" rIns="0" bIns="0" rtlCol="0" anchor="t">
            <a:spAutoFit/>
          </a:bodyPr>
          <a:lstStyle/>
          <a:p>
            <a:pPr marL="0" lvl="0" indent="0" algn="just">
              <a:lnSpc>
                <a:spcPts val="4480"/>
              </a:lnSpc>
              <a:spcBef>
                <a:spcPct val="0"/>
              </a:spcBef>
            </a:pPr>
            <a:r>
              <a:rPr lang="en-US" sz="3200" b="1">
                <a:solidFill>
                  <a:srgbClr val="292961"/>
                </a:solidFill>
                <a:latin typeface="Open Sauce Bold"/>
                <a:ea typeface="Open Sauce Bold"/>
                <a:cs typeface="Open Sauce Bold"/>
                <a:sym typeface="Open Sauce Bold"/>
              </a:rPr>
              <a:t>TURN VISITORS TO CUSTOMERS &amp; DIVERSIFY PRODUCTS IN POTENTIAL TYPES</a:t>
            </a:r>
          </a:p>
        </p:txBody>
      </p:sp>
      <p:sp>
        <p:nvSpPr>
          <p:cNvPr id="21" name="TextBox 21"/>
          <p:cNvSpPr txBox="1"/>
          <p:nvPr/>
        </p:nvSpPr>
        <p:spPr>
          <a:xfrm>
            <a:off x="7960546" y="7647475"/>
            <a:ext cx="2352498" cy="1153795"/>
          </a:xfrm>
          <a:prstGeom prst="rect">
            <a:avLst/>
          </a:prstGeom>
        </p:spPr>
        <p:txBody>
          <a:bodyPr lIns="0" tIns="0" rIns="0" bIns="0" rtlCol="0" anchor="t">
            <a:spAutoFit/>
          </a:bodyPr>
          <a:lstStyle/>
          <a:p>
            <a:pPr algn="ctr">
              <a:lnSpc>
                <a:spcPts val="3079"/>
              </a:lnSpc>
              <a:spcBef>
                <a:spcPct val="0"/>
              </a:spcBef>
            </a:pPr>
            <a:r>
              <a:rPr lang="en-US" sz="2199">
                <a:solidFill>
                  <a:srgbClr val="F3F2F0"/>
                </a:solidFill>
                <a:latin typeface="Open Sans"/>
                <a:ea typeface="Open Sans"/>
                <a:cs typeface="Open Sans"/>
                <a:sym typeface="Open Sans"/>
              </a:rPr>
              <a:t>Growing demand for sustainable fabrics</a:t>
            </a:r>
          </a:p>
        </p:txBody>
      </p:sp>
      <p:sp>
        <p:nvSpPr>
          <p:cNvPr id="22" name="TextBox 22"/>
          <p:cNvSpPr txBox="1"/>
          <p:nvPr/>
        </p:nvSpPr>
        <p:spPr>
          <a:xfrm>
            <a:off x="11000705" y="7647475"/>
            <a:ext cx="2408755" cy="1153795"/>
          </a:xfrm>
          <a:prstGeom prst="rect">
            <a:avLst/>
          </a:prstGeom>
        </p:spPr>
        <p:txBody>
          <a:bodyPr lIns="0" tIns="0" rIns="0" bIns="0" rtlCol="0" anchor="t">
            <a:spAutoFit/>
          </a:bodyPr>
          <a:lstStyle/>
          <a:p>
            <a:pPr algn="ctr">
              <a:lnSpc>
                <a:spcPts val="3079"/>
              </a:lnSpc>
              <a:spcBef>
                <a:spcPct val="0"/>
              </a:spcBef>
            </a:pPr>
            <a:r>
              <a:rPr lang="en-US" sz="2199">
                <a:solidFill>
                  <a:srgbClr val="F3F2F0"/>
                </a:solidFill>
                <a:latin typeface="Open Sans"/>
                <a:ea typeface="Open Sans"/>
                <a:cs typeface="Open Sans"/>
                <a:sym typeface="Open Sans"/>
              </a:rPr>
              <a:t>Preference for flexible payment options</a:t>
            </a:r>
          </a:p>
        </p:txBody>
      </p:sp>
      <p:sp>
        <p:nvSpPr>
          <p:cNvPr id="23" name="TextBox 23"/>
          <p:cNvSpPr txBox="1"/>
          <p:nvPr/>
        </p:nvSpPr>
        <p:spPr>
          <a:xfrm>
            <a:off x="13830300" y="7647475"/>
            <a:ext cx="2906591" cy="1153795"/>
          </a:xfrm>
          <a:prstGeom prst="rect">
            <a:avLst/>
          </a:prstGeom>
        </p:spPr>
        <p:txBody>
          <a:bodyPr lIns="0" tIns="0" rIns="0" bIns="0" rtlCol="0" anchor="t">
            <a:spAutoFit/>
          </a:bodyPr>
          <a:lstStyle/>
          <a:p>
            <a:pPr algn="ctr">
              <a:lnSpc>
                <a:spcPts val="3079"/>
              </a:lnSpc>
              <a:spcBef>
                <a:spcPct val="0"/>
              </a:spcBef>
            </a:pPr>
            <a:r>
              <a:rPr lang="en-US" sz="2199">
                <a:solidFill>
                  <a:srgbClr val="F3F2F0"/>
                </a:solidFill>
                <a:latin typeface="Open Sans"/>
                <a:ea typeface="Open Sans"/>
                <a:cs typeface="Open Sans"/>
                <a:sym typeface="Open Sans"/>
              </a:rPr>
              <a:t>High engagement with seasonal promotions</a:t>
            </a:r>
          </a:p>
        </p:txBody>
      </p:sp>
      <p:sp>
        <p:nvSpPr>
          <p:cNvPr id="24" name="TextBox 24"/>
          <p:cNvSpPr txBox="1"/>
          <p:nvPr/>
        </p:nvSpPr>
        <p:spPr>
          <a:xfrm>
            <a:off x="969794" y="9365845"/>
            <a:ext cx="1595909" cy="328295"/>
          </a:xfrm>
          <a:prstGeom prst="rect">
            <a:avLst/>
          </a:prstGeom>
        </p:spPr>
        <p:txBody>
          <a:bodyPr wrap="square" lIns="0" tIns="0" rIns="0" bIns="0" rtlCol="0" anchor="t">
            <a:spAutoFit/>
          </a:bodyPr>
          <a:lstStyle/>
          <a:p>
            <a:pPr algn="ctr">
              <a:lnSpc>
                <a:spcPts val="2800"/>
              </a:lnSpc>
            </a:pPr>
            <a:r>
              <a:rPr lang="en-US" sz="2000" dirty="0">
                <a:solidFill>
                  <a:srgbClr val="000000"/>
                </a:solidFill>
                <a:latin typeface="Open Sauce"/>
                <a:ea typeface="Open Sauce"/>
                <a:cs typeface="Open Sauce"/>
                <a:sym typeface="Open Sauce"/>
              </a:rPr>
              <a:t>Background</a:t>
            </a:r>
          </a:p>
        </p:txBody>
      </p:sp>
      <p:sp>
        <p:nvSpPr>
          <p:cNvPr id="25" name="TextBox 25"/>
          <p:cNvSpPr txBox="1"/>
          <p:nvPr/>
        </p:nvSpPr>
        <p:spPr>
          <a:xfrm>
            <a:off x="4825370" y="9365845"/>
            <a:ext cx="1499230" cy="328295"/>
          </a:xfrm>
          <a:prstGeom prst="rect">
            <a:avLst/>
          </a:prstGeom>
        </p:spPr>
        <p:txBody>
          <a:bodyPr wrap="square" lIns="0" tIns="0" rIns="0" bIns="0" rtlCol="0" anchor="t">
            <a:spAutoFit/>
          </a:bodyPr>
          <a:lstStyle/>
          <a:p>
            <a:pPr algn="ctr">
              <a:lnSpc>
                <a:spcPts val="2800"/>
              </a:lnSpc>
            </a:pPr>
            <a:r>
              <a:rPr lang="en-US" sz="2000" dirty="0">
                <a:solidFill>
                  <a:srgbClr val="000000"/>
                </a:solidFill>
                <a:latin typeface="Open Sauce"/>
                <a:ea typeface="Open Sauce"/>
                <a:cs typeface="Open Sauce"/>
                <a:sym typeface="Open Sauce"/>
              </a:rPr>
              <a:t>Key </a:t>
            </a:r>
            <a:r>
              <a:rPr lang="en-US" sz="2000" dirty="0" err="1">
                <a:solidFill>
                  <a:srgbClr val="000000"/>
                </a:solidFill>
                <a:latin typeface="Open Sauce"/>
                <a:ea typeface="Open Sauce"/>
                <a:cs typeface="Open Sauce"/>
                <a:sym typeface="Open Sauce"/>
              </a:rPr>
              <a:t>isssues</a:t>
            </a:r>
            <a:endParaRPr lang="en-US" sz="2000" dirty="0">
              <a:solidFill>
                <a:srgbClr val="000000"/>
              </a:solidFill>
              <a:latin typeface="Open Sauce"/>
              <a:ea typeface="Open Sauce"/>
              <a:cs typeface="Open Sauce"/>
              <a:sym typeface="Open Sauce"/>
            </a:endParaRPr>
          </a:p>
        </p:txBody>
      </p:sp>
      <p:sp>
        <p:nvSpPr>
          <p:cNvPr id="26" name="TextBox 26"/>
          <p:cNvSpPr txBox="1"/>
          <p:nvPr/>
        </p:nvSpPr>
        <p:spPr>
          <a:xfrm>
            <a:off x="8888375" y="9365846"/>
            <a:ext cx="1019249" cy="349250"/>
          </a:xfrm>
          <a:prstGeom prst="rect">
            <a:avLst/>
          </a:prstGeom>
        </p:spPr>
        <p:txBody>
          <a:bodyPr lIns="0" tIns="0" rIns="0" bIns="0" rtlCol="0" anchor="t">
            <a:spAutoFit/>
          </a:bodyPr>
          <a:lstStyle/>
          <a:p>
            <a:pPr algn="ctr">
              <a:lnSpc>
                <a:spcPts val="2800"/>
              </a:lnSpc>
            </a:pPr>
            <a:r>
              <a:rPr lang="en-US" sz="2000">
                <a:solidFill>
                  <a:srgbClr val="000000"/>
                </a:solidFill>
                <a:latin typeface="Open Sauce"/>
                <a:ea typeface="Open Sauce"/>
                <a:cs typeface="Open Sauce"/>
                <a:sym typeface="Open Sauce"/>
              </a:rPr>
              <a:t>Analysis</a:t>
            </a:r>
          </a:p>
        </p:txBody>
      </p:sp>
      <p:sp>
        <p:nvSpPr>
          <p:cNvPr id="27" name="TextBox 27"/>
          <p:cNvSpPr txBox="1"/>
          <p:nvPr/>
        </p:nvSpPr>
        <p:spPr>
          <a:xfrm>
            <a:off x="12167290" y="9350209"/>
            <a:ext cx="2227734" cy="328295"/>
          </a:xfrm>
          <a:prstGeom prst="rect">
            <a:avLst/>
          </a:prstGeom>
        </p:spPr>
        <p:txBody>
          <a:bodyPr lIns="0" tIns="0" rIns="0" bIns="0" rtlCol="0" anchor="t">
            <a:spAutoFit/>
          </a:bodyPr>
          <a:lstStyle/>
          <a:p>
            <a:pPr algn="ctr">
              <a:lnSpc>
                <a:spcPts val="2800"/>
              </a:lnSpc>
            </a:pPr>
            <a:r>
              <a:rPr lang="en-US" sz="2000" b="1">
                <a:solidFill>
                  <a:srgbClr val="FFFFFF"/>
                </a:solidFill>
                <a:highlight>
                  <a:srgbClr val="000000"/>
                </a:highlight>
                <a:latin typeface="Open Sauce Bold"/>
                <a:ea typeface="Open Sauce Bold"/>
                <a:cs typeface="Open Sauce Bold"/>
                <a:sym typeface="Open Sauce Bold"/>
              </a:rPr>
              <a:t>Recommendation</a:t>
            </a:r>
          </a:p>
        </p:txBody>
      </p:sp>
      <p:sp>
        <p:nvSpPr>
          <p:cNvPr id="28" name="TextBox 28"/>
          <p:cNvSpPr txBox="1"/>
          <p:nvPr/>
        </p:nvSpPr>
        <p:spPr>
          <a:xfrm>
            <a:off x="16509002" y="9350209"/>
            <a:ext cx="1162794" cy="349250"/>
          </a:xfrm>
          <a:prstGeom prst="rect">
            <a:avLst/>
          </a:prstGeom>
        </p:spPr>
        <p:txBody>
          <a:bodyPr lIns="0" tIns="0" rIns="0" bIns="0" rtlCol="0" anchor="t">
            <a:spAutoFit/>
          </a:bodyPr>
          <a:lstStyle/>
          <a:p>
            <a:pPr algn="ctr">
              <a:lnSpc>
                <a:spcPts val="2800"/>
              </a:lnSpc>
            </a:pPr>
            <a:r>
              <a:rPr lang="en-US" sz="2000">
                <a:solidFill>
                  <a:srgbClr val="000000"/>
                </a:solidFill>
                <a:latin typeface="Open Sauce"/>
                <a:ea typeface="Open Sauce"/>
                <a:cs typeface="Open Sauce"/>
                <a:sym typeface="Open Sauce"/>
              </a:rPr>
              <a:t>Appendix</a:t>
            </a:r>
          </a:p>
        </p:txBody>
      </p:sp>
      <p:sp>
        <p:nvSpPr>
          <p:cNvPr id="29" name="TextBox 29"/>
          <p:cNvSpPr txBox="1"/>
          <p:nvPr/>
        </p:nvSpPr>
        <p:spPr>
          <a:xfrm>
            <a:off x="1109110" y="2006216"/>
            <a:ext cx="5340526" cy="422275"/>
          </a:xfrm>
          <a:prstGeom prst="rect">
            <a:avLst/>
          </a:prstGeom>
        </p:spPr>
        <p:txBody>
          <a:bodyPr lIns="0" tIns="0" rIns="0" bIns="0" rtlCol="0" anchor="t">
            <a:spAutoFit/>
          </a:bodyPr>
          <a:lstStyle/>
          <a:p>
            <a:pPr algn="l">
              <a:lnSpc>
                <a:spcPts val="3499"/>
              </a:lnSpc>
            </a:pPr>
            <a:r>
              <a:rPr lang="en-US" sz="2499" b="1">
                <a:solidFill>
                  <a:srgbClr val="292961"/>
                </a:solidFill>
                <a:latin typeface="Open Sauce Bold"/>
                <a:ea typeface="Open Sauce Bold"/>
                <a:cs typeface="Open Sauce Bold"/>
                <a:sym typeface="Open Sauce Bold"/>
              </a:rPr>
              <a:t>PREPARATION</a:t>
            </a:r>
          </a:p>
        </p:txBody>
      </p:sp>
      <p:sp>
        <p:nvSpPr>
          <p:cNvPr id="30" name="TextBox 30"/>
          <p:cNvSpPr txBox="1"/>
          <p:nvPr/>
        </p:nvSpPr>
        <p:spPr>
          <a:xfrm>
            <a:off x="969795" y="2577507"/>
            <a:ext cx="15539207" cy="1125494"/>
          </a:xfrm>
          <a:prstGeom prst="rect">
            <a:avLst/>
          </a:prstGeom>
        </p:spPr>
        <p:txBody>
          <a:bodyPr lIns="0" tIns="0" rIns="0" bIns="0" rtlCol="0" anchor="t">
            <a:spAutoFit/>
          </a:bodyPr>
          <a:lstStyle/>
          <a:p>
            <a:pPr marL="472648" lvl="1" indent="-236324" algn="l">
              <a:lnSpc>
                <a:spcPts val="3064"/>
              </a:lnSpc>
              <a:buFont typeface="Arial"/>
              <a:buChar char="•"/>
            </a:pPr>
            <a:r>
              <a:rPr lang="en-US" sz="2189">
                <a:solidFill>
                  <a:srgbClr val="292961"/>
                </a:solidFill>
                <a:latin typeface="Open Sauce"/>
                <a:ea typeface="Open Sauce"/>
                <a:cs typeface="Open Sauce"/>
                <a:sym typeface="Open Sauce"/>
              </a:rPr>
              <a:t>Study customers’ shopping behavior and preferences for developing suitable promotions</a:t>
            </a:r>
          </a:p>
          <a:p>
            <a:pPr marL="472648" lvl="1" indent="-236324" algn="l">
              <a:lnSpc>
                <a:spcPts val="3064"/>
              </a:lnSpc>
              <a:buFont typeface="Arial"/>
              <a:buChar char="•"/>
            </a:pPr>
            <a:r>
              <a:rPr lang="en-US" sz="2189">
                <a:solidFill>
                  <a:srgbClr val="292961"/>
                </a:solidFill>
                <a:latin typeface="Open Sauce"/>
                <a:ea typeface="Open Sauce"/>
                <a:cs typeface="Open Sauce"/>
                <a:sym typeface="Open Sauce"/>
              </a:rPr>
              <a:t>Plan and design new collections in the best-selling category</a:t>
            </a:r>
          </a:p>
          <a:p>
            <a:pPr marL="472648" lvl="1" indent="-236324" algn="l">
              <a:lnSpc>
                <a:spcPts val="3064"/>
              </a:lnSpc>
              <a:buFont typeface="Arial"/>
              <a:buChar char="•"/>
            </a:pPr>
            <a:r>
              <a:rPr lang="en-US" sz="2189">
                <a:solidFill>
                  <a:srgbClr val="292961"/>
                </a:solidFill>
                <a:latin typeface="Open Sauce"/>
                <a:ea typeface="Open Sauce"/>
                <a:cs typeface="Open Sauce"/>
                <a:sym typeface="Open Sauce"/>
              </a:rPr>
              <a:t>Contact suppliers for more products and variations in other potential types (‘Cong so’, ‘Lifestyle’)</a:t>
            </a:r>
          </a:p>
        </p:txBody>
      </p:sp>
      <p:sp>
        <p:nvSpPr>
          <p:cNvPr id="31" name="TextBox 31"/>
          <p:cNvSpPr txBox="1"/>
          <p:nvPr/>
        </p:nvSpPr>
        <p:spPr>
          <a:xfrm>
            <a:off x="1109110" y="4409912"/>
            <a:ext cx="5340526" cy="422275"/>
          </a:xfrm>
          <a:prstGeom prst="rect">
            <a:avLst/>
          </a:prstGeom>
        </p:spPr>
        <p:txBody>
          <a:bodyPr lIns="0" tIns="0" rIns="0" bIns="0" rtlCol="0" anchor="t">
            <a:spAutoFit/>
          </a:bodyPr>
          <a:lstStyle/>
          <a:p>
            <a:pPr algn="l">
              <a:lnSpc>
                <a:spcPts val="3499"/>
              </a:lnSpc>
            </a:pPr>
            <a:r>
              <a:rPr lang="en-US" sz="2499" b="1">
                <a:solidFill>
                  <a:srgbClr val="292961"/>
                </a:solidFill>
                <a:latin typeface="Open Sauce Bold"/>
                <a:ea typeface="Open Sauce Bold"/>
                <a:cs typeface="Open Sauce Bold"/>
                <a:sym typeface="Open Sauce Bold"/>
              </a:rPr>
              <a:t>IMPLEMENTATION</a:t>
            </a:r>
          </a:p>
        </p:txBody>
      </p:sp>
      <p:sp>
        <p:nvSpPr>
          <p:cNvPr id="32" name="TextBox 32"/>
          <p:cNvSpPr txBox="1"/>
          <p:nvPr/>
        </p:nvSpPr>
        <p:spPr>
          <a:xfrm>
            <a:off x="1115524" y="6814931"/>
            <a:ext cx="5340526" cy="422275"/>
          </a:xfrm>
          <a:prstGeom prst="rect">
            <a:avLst/>
          </a:prstGeom>
        </p:spPr>
        <p:txBody>
          <a:bodyPr lIns="0" tIns="0" rIns="0" bIns="0" rtlCol="0" anchor="t">
            <a:spAutoFit/>
          </a:bodyPr>
          <a:lstStyle/>
          <a:p>
            <a:pPr algn="l">
              <a:lnSpc>
                <a:spcPts val="3499"/>
              </a:lnSpc>
            </a:pPr>
            <a:r>
              <a:rPr lang="en-US" sz="2499" b="1">
                <a:solidFill>
                  <a:srgbClr val="292961"/>
                </a:solidFill>
                <a:latin typeface="Open Sauce Bold"/>
                <a:ea typeface="Open Sauce Bold"/>
                <a:cs typeface="Open Sauce Bold"/>
                <a:sym typeface="Open Sauce Bold"/>
              </a:rPr>
              <a:t>MEASUREMENT</a:t>
            </a:r>
          </a:p>
        </p:txBody>
      </p:sp>
      <p:sp>
        <p:nvSpPr>
          <p:cNvPr id="33" name="TextBox 33"/>
          <p:cNvSpPr txBox="1"/>
          <p:nvPr/>
        </p:nvSpPr>
        <p:spPr>
          <a:xfrm>
            <a:off x="981542" y="4984587"/>
            <a:ext cx="13099117" cy="1125494"/>
          </a:xfrm>
          <a:prstGeom prst="rect">
            <a:avLst/>
          </a:prstGeom>
        </p:spPr>
        <p:txBody>
          <a:bodyPr lIns="0" tIns="0" rIns="0" bIns="0" rtlCol="0" anchor="t">
            <a:spAutoFit/>
          </a:bodyPr>
          <a:lstStyle/>
          <a:p>
            <a:pPr marL="472648" lvl="1" indent="-236324" algn="l">
              <a:lnSpc>
                <a:spcPts val="3064"/>
              </a:lnSpc>
              <a:buFont typeface="Arial"/>
              <a:buChar char="•"/>
            </a:pPr>
            <a:r>
              <a:rPr lang="en-US" sz="2189">
                <a:solidFill>
                  <a:srgbClr val="292961"/>
                </a:solidFill>
                <a:latin typeface="Open Sauce"/>
                <a:ea typeface="Open Sauce"/>
                <a:cs typeface="Open Sauce"/>
                <a:sym typeface="Open Sauce"/>
              </a:rPr>
              <a:t>Run social media campaigns to attract awareness and online traffic</a:t>
            </a:r>
          </a:p>
          <a:p>
            <a:pPr marL="472648" lvl="1" indent="-236324" algn="l">
              <a:lnSpc>
                <a:spcPts val="3064"/>
              </a:lnSpc>
              <a:buFont typeface="Arial"/>
              <a:buChar char="•"/>
            </a:pPr>
            <a:r>
              <a:rPr lang="en-US" sz="2189">
                <a:solidFill>
                  <a:srgbClr val="292961"/>
                </a:solidFill>
                <a:latin typeface="Open Sauce"/>
                <a:ea typeface="Open Sauce"/>
                <a:cs typeface="Open Sauce"/>
                <a:sym typeface="Open Sauce"/>
              </a:rPr>
              <a:t>Offer bundle deals and discounts for the first purchase and low-performing products</a:t>
            </a:r>
          </a:p>
          <a:p>
            <a:pPr marL="472648" lvl="1" indent="-236324" algn="l">
              <a:lnSpc>
                <a:spcPts val="3064"/>
              </a:lnSpc>
              <a:buFont typeface="Arial"/>
              <a:buChar char="•"/>
            </a:pPr>
            <a:r>
              <a:rPr lang="en-US" sz="2189">
                <a:solidFill>
                  <a:srgbClr val="292961"/>
                </a:solidFill>
                <a:latin typeface="Open Sauce"/>
                <a:ea typeface="Open Sauce"/>
                <a:cs typeface="Open Sauce"/>
                <a:sym typeface="Open Sauce"/>
              </a:rPr>
              <a:t>Available staff for the introduction of new products and styling advice.</a:t>
            </a:r>
          </a:p>
        </p:txBody>
      </p:sp>
      <p:sp>
        <p:nvSpPr>
          <p:cNvPr id="34" name="AutoShape 34"/>
          <p:cNvSpPr/>
          <p:nvPr/>
        </p:nvSpPr>
        <p:spPr>
          <a:xfrm flipV="1">
            <a:off x="1109110" y="4081300"/>
            <a:ext cx="12334533" cy="0"/>
          </a:xfrm>
          <a:prstGeom prst="line">
            <a:avLst/>
          </a:prstGeom>
          <a:ln w="28575" cap="flat">
            <a:solidFill>
              <a:srgbClr val="292961"/>
            </a:solidFill>
            <a:prstDash val="solid"/>
            <a:headEnd type="none" w="sm" len="sm"/>
            <a:tailEnd type="none" w="sm" len="sm"/>
          </a:ln>
        </p:spPr>
        <p:txBody>
          <a:bodyPr/>
          <a:lstStyle/>
          <a:p>
            <a:endParaRPr lang="en-US"/>
          </a:p>
        </p:txBody>
      </p:sp>
      <p:sp>
        <p:nvSpPr>
          <p:cNvPr id="35" name="AutoShape 35"/>
          <p:cNvSpPr/>
          <p:nvPr/>
        </p:nvSpPr>
        <p:spPr>
          <a:xfrm>
            <a:off x="1115524" y="6486319"/>
            <a:ext cx="12334533" cy="0"/>
          </a:xfrm>
          <a:prstGeom prst="line">
            <a:avLst/>
          </a:prstGeom>
          <a:ln w="28575" cap="flat">
            <a:solidFill>
              <a:srgbClr val="292961"/>
            </a:solidFill>
            <a:prstDash val="solid"/>
            <a:headEnd type="none" w="sm" len="sm"/>
            <a:tailEnd type="none" w="sm" len="sm"/>
          </a:ln>
        </p:spPr>
        <p:txBody>
          <a:bodyPr/>
          <a:lstStyle/>
          <a:p>
            <a:endParaRPr lang="en-US"/>
          </a:p>
        </p:txBody>
      </p:sp>
      <p:sp>
        <p:nvSpPr>
          <p:cNvPr id="36" name="TextBox 36"/>
          <p:cNvSpPr txBox="1"/>
          <p:nvPr/>
        </p:nvSpPr>
        <p:spPr>
          <a:xfrm>
            <a:off x="969795" y="7389607"/>
            <a:ext cx="16289505" cy="744494"/>
          </a:xfrm>
          <a:prstGeom prst="rect">
            <a:avLst/>
          </a:prstGeom>
        </p:spPr>
        <p:txBody>
          <a:bodyPr lIns="0" tIns="0" rIns="0" bIns="0" rtlCol="0" anchor="t">
            <a:spAutoFit/>
          </a:bodyPr>
          <a:lstStyle/>
          <a:p>
            <a:pPr marL="472648" lvl="1" indent="-236324" algn="l">
              <a:lnSpc>
                <a:spcPts val="3064"/>
              </a:lnSpc>
              <a:buFont typeface="Arial"/>
              <a:buChar char="•"/>
            </a:pPr>
            <a:r>
              <a:rPr lang="en-US" sz="2189">
                <a:solidFill>
                  <a:srgbClr val="292961"/>
                </a:solidFill>
                <a:latin typeface="Open Sauce"/>
                <a:ea typeface="Open Sauce"/>
                <a:cs typeface="Open Sauce"/>
                <a:sym typeface="Open Sauce"/>
              </a:rPr>
              <a:t>Track traffic, Conversion Rate and proportion of purchases made by new customers vs returning customers</a:t>
            </a:r>
          </a:p>
          <a:p>
            <a:pPr marL="472648" lvl="1" indent="-236324" algn="l">
              <a:lnSpc>
                <a:spcPts val="3064"/>
              </a:lnSpc>
              <a:buFont typeface="Arial"/>
              <a:buChar char="•"/>
            </a:pPr>
            <a:r>
              <a:rPr lang="en-US" sz="2189">
                <a:solidFill>
                  <a:srgbClr val="292961"/>
                </a:solidFill>
                <a:latin typeface="Open Sauce"/>
                <a:ea typeface="Open Sauce"/>
                <a:cs typeface="Open Sauce"/>
                <a:sym typeface="Open Sauce"/>
              </a:rPr>
              <a:t>Collect customer feedback about shopping experience and product quality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2F0"/>
        </a:solidFill>
        <a:effectLst/>
      </p:bgPr>
    </p:bg>
    <p:spTree>
      <p:nvGrpSpPr>
        <p:cNvPr id="1" name=""/>
        <p:cNvGrpSpPr/>
        <p:nvPr/>
      </p:nvGrpSpPr>
      <p:grpSpPr>
        <a:xfrm>
          <a:off x="0" y="0"/>
          <a:ext cx="0" cy="0"/>
          <a:chOff x="0" y="0"/>
          <a:chExt cx="0" cy="0"/>
        </a:xfrm>
      </p:grpSpPr>
      <p:grpSp>
        <p:nvGrpSpPr>
          <p:cNvPr id="2" name="Group 2"/>
          <p:cNvGrpSpPr/>
          <p:nvPr/>
        </p:nvGrpSpPr>
        <p:grpSpPr>
          <a:xfrm>
            <a:off x="1536700" y="8925252"/>
            <a:ext cx="337802" cy="337802"/>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5382900" y="8920498"/>
            <a:ext cx="337802" cy="33780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8" name="AutoShape 8"/>
          <p:cNvSpPr/>
          <p:nvPr/>
        </p:nvSpPr>
        <p:spPr>
          <a:xfrm>
            <a:off x="1076706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sp>
        <p:nvSpPr>
          <p:cNvPr id="9" name="AutoShape 9"/>
          <p:cNvSpPr/>
          <p:nvPr/>
        </p:nvSpPr>
        <p:spPr>
          <a:xfrm>
            <a:off x="802894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10" name="Group 10"/>
          <p:cNvGrpSpPr/>
          <p:nvPr/>
        </p:nvGrpSpPr>
        <p:grpSpPr>
          <a:xfrm>
            <a:off x="9229099" y="8920498"/>
            <a:ext cx="337802" cy="33780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6921498" y="8920498"/>
            <a:ext cx="337802" cy="337802"/>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3112256" y="8920498"/>
            <a:ext cx="337802" cy="337802"/>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en-US"/>
            </a:p>
          </p:txBody>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AutoShape 19"/>
          <p:cNvSpPr/>
          <p:nvPr/>
        </p:nvSpPr>
        <p:spPr>
          <a:xfrm>
            <a:off x="153670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sp>
        <p:nvSpPr>
          <p:cNvPr id="20" name="AutoShape 20"/>
          <p:cNvSpPr/>
          <p:nvPr/>
        </p:nvSpPr>
        <p:spPr>
          <a:xfrm flipV="1">
            <a:off x="1109110" y="4081300"/>
            <a:ext cx="12334533" cy="0"/>
          </a:xfrm>
          <a:prstGeom prst="line">
            <a:avLst/>
          </a:prstGeom>
          <a:ln w="28575" cap="flat">
            <a:solidFill>
              <a:srgbClr val="292961"/>
            </a:solidFill>
            <a:prstDash val="solid"/>
            <a:headEnd type="none" w="sm" len="sm"/>
            <a:tailEnd type="none" w="sm" len="sm"/>
          </a:ln>
        </p:spPr>
        <p:txBody>
          <a:bodyPr/>
          <a:lstStyle/>
          <a:p>
            <a:endParaRPr lang="en-US"/>
          </a:p>
        </p:txBody>
      </p:sp>
      <p:sp>
        <p:nvSpPr>
          <p:cNvPr id="21" name="AutoShape 21"/>
          <p:cNvSpPr/>
          <p:nvPr/>
        </p:nvSpPr>
        <p:spPr>
          <a:xfrm>
            <a:off x="1115524" y="6486319"/>
            <a:ext cx="12334533" cy="0"/>
          </a:xfrm>
          <a:prstGeom prst="line">
            <a:avLst/>
          </a:prstGeom>
          <a:ln w="28575" cap="flat">
            <a:solidFill>
              <a:srgbClr val="292961"/>
            </a:solidFill>
            <a:prstDash val="solid"/>
            <a:headEnd type="none" w="sm" len="sm"/>
            <a:tailEnd type="none" w="sm" len="sm"/>
          </a:ln>
        </p:spPr>
        <p:txBody>
          <a:bodyPr/>
          <a:lstStyle/>
          <a:p>
            <a:endParaRPr lang="en-US"/>
          </a:p>
        </p:txBody>
      </p:sp>
      <p:sp>
        <p:nvSpPr>
          <p:cNvPr id="22" name="Freeform 22"/>
          <p:cNvSpPr/>
          <p:nvPr/>
        </p:nvSpPr>
        <p:spPr>
          <a:xfrm>
            <a:off x="10128501" y="543999"/>
            <a:ext cx="7904315" cy="3019683"/>
          </a:xfrm>
          <a:custGeom>
            <a:avLst/>
            <a:gdLst/>
            <a:ahLst/>
            <a:cxnLst/>
            <a:rect l="l" t="t" r="r" b="b"/>
            <a:pathLst>
              <a:path w="7904315" h="3019683">
                <a:moveTo>
                  <a:pt x="0" y="0"/>
                </a:moveTo>
                <a:lnTo>
                  <a:pt x="7904315" y="0"/>
                </a:lnTo>
                <a:lnTo>
                  <a:pt x="7904315" y="3019684"/>
                </a:lnTo>
                <a:lnTo>
                  <a:pt x="0" y="3019684"/>
                </a:lnTo>
                <a:lnTo>
                  <a:pt x="0" y="0"/>
                </a:lnTo>
                <a:close/>
              </a:path>
            </a:pathLst>
          </a:custGeom>
          <a:blipFill>
            <a:blip r:embed="rId2"/>
            <a:stretch>
              <a:fillRect/>
            </a:stretch>
          </a:blipFill>
        </p:spPr>
        <p:txBody>
          <a:bodyPr/>
          <a:lstStyle/>
          <a:p>
            <a:endParaRPr lang="en-US"/>
          </a:p>
        </p:txBody>
      </p:sp>
      <p:sp>
        <p:nvSpPr>
          <p:cNvPr id="23" name="TextBox 23"/>
          <p:cNvSpPr txBox="1"/>
          <p:nvPr/>
        </p:nvSpPr>
        <p:spPr>
          <a:xfrm>
            <a:off x="1028700" y="971550"/>
            <a:ext cx="16230600" cy="537845"/>
          </a:xfrm>
          <a:prstGeom prst="rect">
            <a:avLst/>
          </a:prstGeom>
        </p:spPr>
        <p:txBody>
          <a:bodyPr lIns="0" tIns="0" rIns="0" bIns="0" rtlCol="0" anchor="t">
            <a:spAutoFit/>
          </a:bodyPr>
          <a:lstStyle/>
          <a:p>
            <a:pPr marL="0" lvl="0" indent="0" algn="just">
              <a:lnSpc>
                <a:spcPts val="4480"/>
              </a:lnSpc>
              <a:spcBef>
                <a:spcPct val="0"/>
              </a:spcBef>
            </a:pPr>
            <a:r>
              <a:rPr lang="en-US" sz="3200" b="1">
                <a:solidFill>
                  <a:srgbClr val="292961"/>
                </a:solidFill>
                <a:latin typeface="Open Sauce Bold"/>
                <a:ea typeface="Open Sauce Bold"/>
                <a:cs typeface="Open Sauce Bold"/>
                <a:sym typeface="Open Sauce Bold"/>
              </a:rPr>
              <a:t>ULTILIZE GOLDEN HOURS FOR SHOPPING</a:t>
            </a:r>
          </a:p>
        </p:txBody>
      </p:sp>
      <p:sp>
        <p:nvSpPr>
          <p:cNvPr id="24" name="TextBox 24"/>
          <p:cNvSpPr txBox="1"/>
          <p:nvPr/>
        </p:nvSpPr>
        <p:spPr>
          <a:xfrm>
            <a:off x="7960546" y="7647475"/>
            <a:ext cx="2352498" cy="1153795"/>
          </a:xfrm>
          <a:prstGeom prst="rect">
            <a:avLst/>
          </a:prstGeom>
        </p:spPr>
        <p:txBody>
          <a:bodyPr lIns="0" tIns="0" rIns="0" bIns="0" rtlCol="0" anchor="t">
            <a:spAutoFit/>
          </a:bodyPr>
          <a:lstStyle/>
          <a:p>
            <a:pPr algn="ctr">
              <a:lnSpc>
                <a:spcPts val="3079"/>
              </a:lnSpc>
              <a:spcBef>
                <a:spcPct val="0"/>
              </a:spcBef>
            </a:pPr>
            <a:r>
              <a:rPr lang="en-US" sz="2199">
                <a:solidFill>
                  <a:srgbClr val="F3F2F0"/>
                </a:solidFill>
                <a:latin typeface="Open Sans"/>
                <a:ea typeface="Open Sans"/>
                <a:cs typeface="Open Sans"/>
                <a:sym typeface="Open Sans"/>
              </a:rPr>
              <a:t>Growing demand for sustainable fabrics</a:t>
            </a:r>
          </a:p>
        </p:txBody>
      </p:sp>
      <p:sp>
        <p:nvSpPr>
          <p:cNvPr id="25" name="TextBox 25"/>
          <p:cNvSpPr txBox="1"/>
          <p:nvPr/>
        </p:nvSpPr>
        <p:spPr>
          <a:xfrm>
            <a:off x="11000705" y="7647475"/>
            <a:ext cx="2408755" cy="1153795"/>
          </a:xfrm>
          <a:prstGeom prst="rect">
            <a:avLst/>
          </a:prstGeom>
        </p:spPr>
        <p:txBody>
          <a:bodyPr lIns="0" tIns="0" rIns="0" bIns="0" rtlCol="0" anchor="t">
            <a:spAutoFit/>
          </a:bodyPr>
          <a:lstStyle/>
          <a:p>
            <a:pPr algn="ctr">
              <a:lnSpc>
                <a:spcPts val="3079"/>
              </a:lnSpc>
              <a:spcBef>
                <a:spcPct val="0"/>
              </a:spcBef>
            </a:pPr>
            <a:r>
              <a:rPr lang="en-US" sz="2199">
                <a:solidFill>
                  <a:srgbClr val="F3F2F0"/>
                </a:solidFill>
                <a:latin typeface="Open Sans"/>
                <a:ea typeface="Open Sans"/>
                <a:cs typeface="Open Sans"/>
                <a:sym typeface="Open Sans"/>
              </a:rPr>
              <a:t>Preference for flexible payment options</a:t>
            </a:r>
          </a:p>
        </p:txBody>
      </p:sp>
      <p:sp>
        <p:nvSpPr>
          <p:cNvPr id="26" name="TextBox 26"/>
          <p:cNvSpPr txBox="1"/>
          <p:nvPr/>
        </p:nvSpPr>
        <p:spPr>
          <a:xfrm>
            <a:off x="13830300" y="7647475"/>
            <a:ext cx="2906591" cy="1153795"/>
          </a:xfrm>
          <a:prstGeom prst="rect">
            <a:avLst/>
          </a:prstGeom>
        </p:spPr>
        <p:txBody>
          <a:bodyPr lIns="0" tIns="0" rIns="0" bIns="0" rtlCol="0" anchor="t">
            <a:spAutoFit/>
          </a:bodyPr>
          <a:lstStyle/>
          <a:p>
            <a:pPr algn="ctr">
              <a:lnSpc>
                <a:spcPts val="3079"/>
              </a:lnSpc>
              <a:spcBef>
                <a:spcPct val="0"/>
              </a:spcBef>
            </a:pPr>
            <a:r>
              <a:rPr lang="en-US" sz="2199">
                <a:solidFill>
                  <a:srgbClr val="F3F2F0"/>
                </a:solidFill>
                <a:latin typeface="Open Sans"/>
                <a:ea typeface="Open Sans"/>
                <a:cs typeface="Open Sans"/>
                <a:sym typeface="Open Sans"/>
              </a:rPr>
              <a:t>High engagement with seasonal promotions</a:t>
            </a:r>
          </a:p>
        </p:txBody>
      </p:sp>
      <p:sp>
        <p:nvSpPr>
          <p:cNvPr id="27" name="TextBox 27"/>
          <p:cNvSpPr txBox="1"/>
          <p:nvPr/>
        </p:nvSpPr>
        <p:spPr>
          <a:xfrm>
            <a:off x="969794" y="9365846"/>
            <a:ext cx="1544805" cy="328295"/>
          </a:xfrm>
          <a:prstGeom prst="rect">
            <a:avLst/>
          </a:prstGeom>
        </p:spPr>
        <p:txBody>
          <a:bodyPr wrap="square" lIns="0" tIns="0" rIns="0" bIns="0" rtlCol="0" anchor="t">
            <a:spAutoFit/>
          </a:bodyPr>
          <a:lstStyle/>
          <a:p>
            <a:pPr algn="ctr">
              <a:lnSpc>
                <a:spcPts val="2800"/>
              </a:lnSpc>
            </a:pPr>
            <a:r>
              <a:rPr lang="en-US" sz="2000" dirty="0">
                <a:solidFill>
                  <a:srgbClr val="000000"/>
                </a:solidFill>
                <a:latin typeface="Open Sauce"/>
                <a:ea typeface="Open Sauce"/>
                <a:cs typeface="Open Sauce"/>
                <a:sym typeface="Open Sauce"/>
              </a:rPr>
              <a:t>Background</a:t>
            </a:r>
          </a:p>
        </p:txBody>
      </p:sp>
      <p:sp>
        <p:nvSpPr>
          <p:cNvPr id="28" name="TextBox 28"/>
          <p:cNvSpPr txBox="1"/>
          <p:nvPr/>
        </p:nvSpPr>
        <p:spPr>
          <a:xfrm>
            <a:off x="4825369" y="9365846"/>
            <a:ext cx="1544805" cy="328295"/>
          </a:xfrm>
          <a:prstGeom prst="rect">
            <a:avLst/>
          </a:prstGeom>
        </p:spPr>
        <p:txBody>
          <a:bodyPr wrap="square" lIns="0" tIns="0" rIns="0" bIns="0" rtlCol="0" anchor="t">
            <a:spAutoFit/>
          </a:bodyPr>
          <a:lstStyle/>
          <a:p>
            <a:pPr algn="ctr">
              <a:lnSpc>
                <a:spcPts val="2800"/>
              </a:lnSpc>
            </a:pPr>
            <a:r>
              <a:rPr lang="en-US" sz="2000" dirty="0">
                <a:solidFill>
                  <a:srgbClr val="000000"/>
                </a:solidFill>
                <a:latin typeface="Open Sauce"/>
                <a:ea typeface="Open Sauce"/>
                <a:cs typeface="Open Sauce"/>
                <a:sym typeface="Open Sauce"/>
              </a:rPr>
              <a:t>Key </a:t>
            </a:r>
            <a:r>
              <a:rPr lang="en-US" sz="2000" dirty="0" err="1">
                <a:solidFill>
                  <a:srgbClr val="000000"/>
                </a:solidFill>
                <a:latin typeface="Open Sauce"/>
                <a:ea typeface="Open Sauce"/>
                <a:cs typeface="Open Sauce"/>
                <a:sym typeface="Open Sauce"/>
              </a:rPr>
              <a:t>isssues</a:t>
            </a:r>
            <a:endParaRPr lang="en-US" sz="2000" dirty="0">
              <a:solidFill>
                <a:srgbClr val="000000"/>
              </a:solidFill>
              <a:latin typeface="Open Sauce"/>
              <a:ea typeface="Open Sauce"/>
              <a:cs typeface="Open Sauce"/>
              <a:sym typeface="Open Sauce"/>
            </a:endParaRPr>
          </a:p>
        </p:txBody>
      </p:sp>
      <p:sp>
        <p:nvSpPr>
          <p:cNvPr id="29" name="TextBox 29"/>
          <p:cNvSpPr txBox="1"/>
          <p:nvPr/>
        </p:nvSpPr>
        <p:spPr>
          <a:xfrm>
            <a:off x="8888375" y="9365846"/>
            <a:ext cx="1019249" cy="349250"/>
          </a:xfrm>
          <a:prstGeom prst="rect">
            <a:avLst/>
          </a:prstGeom>
        </p:spPr>
        <p:txBody>
          <a:bodyPr lIns="0" tIns="0" rIns="0" bIns="0" rtlCol="0" anchor="t">
            <a:spAutoFit/>
          </a:bodyPr>
          <a:lstStyle/>
          <a:p>
            <a:pPr algn="ctr">
              <a:lnSpc>
                <a:spcPts val="2800"/>
              </a:lnSpc>
            </a:pPr>
            <a:r>
              <a:rPr lang="en-US" sz="2000">
                <a:solidFill>
                  <a:srgbClr val="000000"/>
                </a:solidFill>
                <a:latin typeface="Open Sauce"/>
                <a:ea typeface="Open Sauce"/>
                <a:cs typeface="Open Sauce"/>
                <a:sym typeface="Open Sauce"/>
              </a:rPr>
              <a:t>Analysis</a:t>
            </a:r>
          </a:p>
        </p:txBody>
      </p:sp>
      <p:sp>
        <p:nvSpPr>
          <p:cNvPr id="30" name="TextBox 30"/>
          <p:cNvSpPr txBox="1"/>
          <p:nvPr/>
        </p:nvSpPr>
        <p:spPr>
          <a:xfrm>
            <a:off x="12167290" y="9350209"/>
            <a:ext cx="2227734" cy="328295"/>
          </a:xfrm>
          <a:prstGeom prst="rect">
            <a:avLst/>
          </a:prstGeom>
        </p:spPr>
        <p:txBody>
          <a:bodyPr lIns="0" tIns="0" rIns="0" bIns="0" rtlCol="0" anchor="t">
            <a:spAutoFit/>
          </a:bodyPr>
          <a:lstStyle/>
          <a:p>
            <a:pPr algn="ctr">
              <a:lnSpc>
                <a:spcPts val="2800"/>
              </a:lnSpc>
            </a:pPr>
            <a:r>
              <a:rPr lang="en-US" sz="2000" b="1">
                <a:solidFill>
                  <a:srgbClr val="FFFFFF"/>
                </a:solidFill>
                <a:highlight>
                  <a:srgbClr val="000000"/>
                </a:highlight>
                <a:latin typeface="Open Sauce Bold"/>
                <a:ea typeface="Open Sauce Bold"/>
                <a:cs typeface="Open Sauce Bold"/>
                <a:sym typeface="Open Sauce Bold"/>
              </a:rPr>
              <a:t>Recommendation</a:t>
            </a:r>
          </a:p>
        </p:txBody>
      </p:sp>
      <p:sp>
        <p:nvSpPr>
          <p:cNvPr id="31" name="TextBox 31"/>
          <p:cNvSpPr txBox="1"/>
          <p:nvPr/>
        </p:nvSpPr>
        <p:spPr>
          <a:xfrm>
            <a:off x="16509002" y="9350209"/>
            <a:ext cx="1162794" cy="349250"/>
          </a:xfrm>
          <a:prstGeom prst="rect">
            <a:avLst/>
          </a:prstGeom>
        </p:spPr>
        <p:txBody>
          <a:bodyPr lIns="0" tIns="0" rIns="0" bIns="0" rtlCol="0" anchor="t">
            <a:spAutoFit/>
          </a:bodyPr>
          <a:lstStyle/>
          <a:p>
            <a:pPr algn="ctr">
              <a:lnSpc>
                <a:spcPts val="2800"/>
              </a:lnSpc>
            </a:pPr>
            <a:r>
              <a:rPr lang="en-US" sz="2000">
                <a:solidFill>
                  <a:srgbClr val="000000"/>
                </a:solidFill>
                <a:latin typeface="Open Sauce"/>
                <a:ea typeface="Open Sauce"/>
                <a:cs typeface="Open Sauce"/>
                <a:sym typeface="Open Sauce"/>
              </a:rPr>
              <a:t>Appendix</a:t>
            </a:r>
          </a:p>
        </p:txBody>
      </p:sp>
      <p:sp>
        <p:nvSpPr>
          <p:cNvPr id="32" name="TextBox 32"/>
          <p:cNvSpPr txBox="1"/>
          <p:nvPr/>
        </p:nvSpPr>
        <p:spPr>
          <a:xfrm>
            <a:off x="1109110" y="2006216"/>
            <a:ext cx="5340526" cy="422275"/>
          </a:xfrm>
          <a:prstGeom prst="rect">
            <a:avLst/>
          </a:prstGeom>
        </p:spPr>
        <p:txBody>
          <a:bodyPr lIns="0" tIns="0" rIns="0" bIns="0" rtlCol="0" anchor="t">
            <a:spAutoFit/>
          </a:bodyPr>
          <a:lstStyle/>
          <a:p>
            <a:pPr algn="l">
              <a:lnSpc>
                <a:spcPts val="3499"/>
              </a:lnSpc>
            </a:pPr>
            <a:r>
              <a:rPr lang="en-US" sz="2499" b="1">
                <a:solidFill>
                  <a:srgbClr val="292961"/>
                </a:solidFill>
                <a:latin typeface="Open Sauce Bold"/>
                <a:ea typeface="Open Sauce Bold"/>
                <a:cs typeface="Open Sauce Bold"/>
                <a:sym typeface="Open Sauce Bold"/>
              </a:rPr>
              <a:t>PREPARATION</a:t>
            </a:r>
          </a:p>
        </p:txBody>
      </p:sp>
      <p:sp>
        <p:nvSpPr>
          <p:cNvPr id="33" name="TextBox 33"/>
          <p:cNvSpPr txBox="1"/>
          <p:nvPr/>
        </p:nvSpPr>
        <p:spPr>
          <a:xfrm>
            <a:off x="969795" y="2577507"/>
            <a:ext cx="9797265" cy="1125494"/>
          </a:xfrm>
          <a:prstGeom prst="rect">
            <a:avLst/>
          </a:prstGeom>
        </p:spPr>
        <p:txBody>
          <a:bodyPr lIns="0" tIns="0" rIns="0" bIns="0" rtlCol="0" anchor="t">
            <a:spAutoFit/>
          </a:bodyPr>
          <a:lstStyle/>
          <a:p>
            <a:pPr marL="472648" lvl="1" indent="-236324" algn="l">
              <a:lnSpc>
                <a:spcPts val="3064"/>
              </a:lnSpc>
              <a:buFont typeface="Arial"/>
              <a:buChar char="•"/>
            </a:pPr>
            <a:r>
              <a:rPr lang="en-US" sz="2189">
                <a:solidFill>
                  <a:srgbClr val="292961"/>
                </a:solidFill>
                <a:latin typeface="Open Sauce"/>
                <a:ea typeface="Open Sauce"/>
                <a:cs typeface="Open Sauce"/>
                <a:sym typeface="Open Sauce"/>
              </a:rPr>
              <a:t>Prepare inventory of top products in 7:00 - 9:00 p.m</a:t>
            </a:r>
          </a:p>
          <a:p>
            <a:pPr marL="472648" lvl="1" indent="-236324" algn="l">
              <a:lnSpc>
                <a:spcPts val="3064"/>
              </a:lnSpc>
              <a:buFont typeface="Arial"/>
              <a:buChar char="•"/>
            </a:pPr>
            <a:r>
              <a:rPr lang="en-US" sz="2189">
                <a:solidFill>
                  <a:srgbClr val="292961"/>
                </a:solidFill>
                <a:latin typeface="Open Sauce"/>
                <a:ea typeface="Open Sauce"/>
                <a:cs typeface="Open Sauce"/>
                <a:sym typeface="Open Sauce"/>
              </a:rPr>
              <a:t>Make combos of best-selling products and others</a:t>
            </a:r>
          </a:p>
          <a:p>
            <a:pPr marL="472648" lvl="1" indent="-236324" algn="l">
              <a:lnSpc>
                <a:spcPts val="3064"/>
              </a:lnSpc>
              <a:buFont typeface="Arial"/>
              <a:buChar char="•"/>
            </a:pPr>
            <a:r>
              <a:rPr lang="en-US" sz="2189">
                <a:solidFill>
                  <a:srgbClr val="292961"/>
                </a:solidFill>
                <a:latin typeface="Open Sauce"/>
                <a:ea typeface="Open Sauce"/>
                <a:cs typeface="Open Sauce"/>
                <a:sym typeface="Open Sauce"/>
              </a:rPr>
              <a:t>Allocate more staff in store during this busy period</a:t>
            </a:r>
          </a:p>
        </p:txBody>
      </p:sp>
      <p:sp>
        <p:nvSpPr>
          <p:cNvPr id="34" name="TextBox 34"/>
          <p:cNvSpPr txBox="1"/>
          <p:nvPr/>
        </p:nvSpPr>
        <p:spPr>
          <a:xfrm>
            <a:off x="1109110" y="4409912"/>
            <a:ext cx="5340526" cy="422275"/>
          </a:xfrm>
          <a:prstGeom prst="rect">
            <a:avLst/>
          </a:prstGeom>
        </p:spPr>
        <p:txBody>
          <a:bodyPr lIns="0" tIns="0" rIns="0" bIns="0" rtlCol="0" anchor="t">
            <a:spAutoFit/>
          </a:bodyPr>
          <a:lstStyle/>
          <a:p>
            <a:pPr algn="l">
              <a:lnSpc>
                <a:spcPts val="3499"/>
              </a:lnSpc>
            </a:pPr>
            <a:r>
              <a:rPr lang="en-US" sz="2499" b="1">
                <a:solidFill>
                  <a:srgbClr val="292961"/>
                </a:solidFill>
                <a:latin typeface="Open Sauce Bold"/>
                <a:ea typeface="Open Sauce Bold"/>
                <a:cs typeface="Open Sauce Bold"/>
                <a:sym typeface="Open Sauce Bold"/>
              </a:rPr>
              <a:t>IMPLEMENTATION</a:t>
            </a:r>
          </a:p>
        </p:txBody>
      </p:sp>
      <p:sp>
        <p:nvSpPr>
          <p:cNvPr id="35" name="TextBox 35"/>
          <p:cNvSpPr txBox="1"/>
          <p:nvPr/>
        </p:nvSpPr>
        <p:spPr>
          <a:xfrm>
            <a:off x="1115524" y="6814931"/>
            <a:ext cx="5340526" cy="422275"/>
          </a:xfrm>
          <a:prstGeom prst="rect">
            <a:avLst/>
          </a:prstGeom>
        </p:spPr>
        <p:txBody>
          <a:bodyPr lIns="0" tIns="0" rIns="0" bIns="0" rtlCol="0" anchor="t">
            <a:spAutoFit/>
          </a:bodyPr>
          <a:lstStyle/>
          <a:p>
            <a:pPr algn="l">
              <a:lnSpc>
                <a:spcPts val="3499"/>
              </a:lnSpc>
            </a:pPr>
            <a:r>
              <a:rPr lang="en-US" sz="2499" b="1">
                <a:solidFill>
                  <a:srgbClr val="292961"/>
                </a:solidFill>
                <a:latin typeface="Open Sauce Bold"/>
                <a:ea typeface="Open Sauce Bold"/>
                <a:cs typeface="Open Sauce Bold"/>
                <a:sym typeface="Open Sauce Bold"/>
              </a:rPr>
              <a:t>MEASUREMENT</a:t>
            </a:r>
          </a:p>
        </p:txBody>
      </p:sp>
      <p:sp>
        <p:nvSpPr>
          <p:cNvPr id="36" name="TextBox 36"/>
          <p:cNvSpPr txBox="1"/>
          <p:nvPr/>
        </p:nvSpPr>
        <p:spPr>
          <a:xfrm>
            <a:off x="981542" y="4984587"/>
            <a:ext cx="13099117" cy="1125494"/>
          </a:xfrm>
          <a:prstGeom prst="rect">
            <a:avLst/>
          </a:prstGeom>
        </p:spPr>
        <p:txBody>
          <a:bodyPr lIns="0" tIns="0" rIns="0" bIns="0" rtlCol="0" anchor="t">
            <a:spAutoFit/>
          </a:bodyPr>
          <a:lstStyle/>
          <a:p>
            <a:pPr marL="472648" lvl="1" indent="-236324" algn="l">
              <a:lnSpc>
                <a:spcPts val="3064"/>
              </a:lnSpc>
              <a:buFont typeface="Arial"/>
              <a:buChar char="•"/>
            </a:pPr>
            <a:r>
              <a:rPr lang="en-US" sz="2189">
                <a:solidFill>
                  <a:srgbClr val="292961"/>
                </a:solidFill>
                <a:latin typeface="Open Sauce"/>
                <a:ea typeface="Open Sauce"/>
                <a:cs typeface="Open Sauce"/>
                <a:sym typeface="Open Sauce"/>
              </a:rPr>
              <a:t>Promote limited-time offers through ads </a:t>
            </a:r>
          </a:p>
          <a:p>
            <a:pPr marL="472648" lvl="1" indent="-236324" algn="l">
              <a:lnSpc>
                <a:spcPts val="3064"/>
              </a:lnSpc>
              <a:buFont typeface="Arial"/>
              <a:buChar char="•"/>
            </a:pPr>
            <a:r>
              <a:rPr lang="en-US" sz="2189">
                <a:solidFill>
                  <a:srgbClr val="292961"/>
                </a:solidFill>
                <a:latin typeface="Open Sauce"/>
                <a:ea typeface="Open Sauce"/>
                <a:cs typeface="Open Sauce"/>
                <a:sym typeface="Open Sauce"/>
              </a:rPr>
              <a:t>Display the remaining stock to push the FOMO effect</a:t>
            </a:r>
          </a:p>
          <a:p>
            <a:pPr marL="472648" lvl="1" indent="-236324" algn="l">
              <a:lnSpc>
                <a:spcPts val="3064"/>
              </a:lnSpc>
              <a:buFont typeface="Arial"/>
              <a:buChar char="•"/>
            </a:pPr>
            <a:r>
              <a:rPr lang="en-US" sz="2189">
                <a:solidFill>
                  <a:srgbClr val="292961"/>
                </a:solidFill>
                <a:latin typeface="Open Sauce"/>
                <a:ea typeface="Open Sauce"/>
                <a:cs typeface="Open Sauce"/>
                <a:sym typeface="Open Sauce"/>
              </a:rPr>
              <a:t>Additional gifts or coupons for high value orders</a:t>
            </a:r>
          </a:p>
        </p:txBody>
      </p:sp>
      <p:sp>
        <p:nvSpPr>
          <p:cNvPr id="37" name="TextBox 37"/>
          <p:cNvSpPr txBox="1"/>
          <p:nvPr/>
        </p:nvSpPr>
        <p:spPr>
          <a:xfrm>
            <a:off x="969795" y="7389607"/>
            <a:ext cx="16289505" cy="744494"/>
          </a:xfrm>
          <a:prstGeom prst="rect">
            <a:avLst/>
          </a:prstGeom>
        </p:spPr>
        <p:txBody>
          <a:bodyPr lIns="0" tIns="0" rIns="0" bIns="0" rtlCol="0" anchor="t">
            <a:spAutoFit/>
          </a:bodyPr>
          <a:lstStyle/>
          <a:p>
            <a:pPr marL="472648" lvl="1" indent="-236324" algn="l">
              <a:lnSpc>
                <a:spcPts val="3064"/>
              </a:lnSpc>
              <a:buFont typeface="Arial"/>
              <a:buChar char="•"/>
            </a:pPr>
            <a:r>
              <a:rPr lang="en-US" sz="2189">
                <a:solidFill>
                  <a:srgbClr val="292961"/>
                </a:solidFill>
                <a:latin typeface="Open Sauce"/>
                <a:ea typeface="Open Sauce"/>
                <a:cs typeface="Open Sauce"/>
                <a:sym typeface="Open Sauce"/>
              </a:rPr>
              <a:t>Track revenue during this period and its percentage of contribution to daily revenue</a:t>
            </a:r>
          </a:p>
          <a:p>
            <a:pPr marL="472648" lvl="1" indent="-236324" algn="l">
              <a:lnSpc>
                <a:spcPts val="3064"/>
              </a:lnSpc>
              <a:buFont typeface="Arial"/>
              <a:buChar char="•"/>
            </a:pPr>
            <a:r>
              <a:rPr lang="en-US" sz="2189">
                <a:solidFill>
                  <a:srgbClr val="292961"/>
                </a:solidFill>
                <a:latin typeface="Open Sauce"/>
                <a:ea typeface="Open Sauce"/>
                <a:cs typeface="Open Sauce"/>
                <a:sym typeface="Open Sauce"/>
              </a:rPr>
              <a:t>Analyse APT and UPT before and after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2F0"/>
        </a:solidFill>
        <a:effectLst/>
      </p:bgPr>
    </p:bg>
    <p:spTree>
      <p:nvGrpSpPr>
        <p:cNvPr id="1" name=""/>
        <p:cNvGrpSpPr/>
        <p:nvPr/>
      </p:nvGrpSpPr>
      <p:grpSpPr>
        <a:xfrm>
          <a:off x="0" y="0"/>
          <a:ext cx="0" cy="0"/>
          <a:chOff x="0" y="0"/>
          <a:chExt cx="0" cy="0"/>
        </a:xfrm>
      </p:grpSpPr>
      <p:grpSp>
        <p:nvGrpSpPr>
          <p:cNvPr id="2" name="Group 2"/>
          <p:cNvGrpSpPr/>
          <p:nvPr/>
        </p:nvGrpSpPr>
        <p:grpSpPr>
          <a:xfrm>
            <a:off x="1536700" y="8925252"/>
            <a:ext cx="337802" cy="337802"/>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5382900" y="8920498"/>
            <a:ext cx="337802" cy="33780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8" name="AutoShape 8"/>
          <p:cNvSpPr/>
          <p:nvPr/>
        </p:nvSpPr>
        <p:spPr>
          <a:xfrm>
            <a:off x="1076706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sp>
        <p:nvSpPr>
          <p:cNvPr id="9" name="AutoShape 9"/>
          <p:cNvSpPr/>
          <p:nvPr/>
        </p:nvSpPr>
        <p:spPr>
          <a:xfrm>
            <a:off x="802894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10" name="Group 10"/>
          <p:cNvGrpSpPr/>
          <p:nvPr/>
        </p:nvGrpSpPr>
        <p:grpSpPr>
          <a:xfrm>
            <a:off x="9229099" y="8920498"/>
            <a:ext cx="337802" cy="33780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6921498" y="8920498"/>
            <a:ext cx="337802" cy="337802"/>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3112256" y="8920498"/>
            <a:ext cx="337802" cy="337802"/>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en-US"/>
            </a:p>
          </p:txBody>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AutoShape 19"/>
          <p:cNvSpPr/>
          <p:nvPr/>
        </p:nvSpPr>
        <p:spPr>
          <a:xfrm>
            <a:off x="153670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sp>
        <p:nvSpPr>
          <p:cNvPr id="20" name="AutoShape 20"/>
          <p:cNvSpPr/>
          <p:nvPr/>
        </p:nvSpPr>
        <p:spPr>
          <a:xfrm flipV="1">
            <a:off x="1109110" y="4081300"/>
            <a:ext cx="12334533" cy="0"/>
          </a:xfrm>
          <a:prstGeom prst="line">
            <a:avLst/>
          </a:prstGeom>
          <a:ln w="28575" cap="flat">
            <a:solidFill>
              <a:srgbClr val="292961"/>
            </a:solidFill>
            <a:prstDash val="solid"/>
            <a:headEnd type="none" w="sm" len="sm"/>
            <a:tailEnd type="none" w="sm" len="sm"/>
          </a:ln>
        </p:spPr>
        <p:txBody>
          <a:bodyPr/>
          <a:lstStyle/>
          <a:p>
            <a:endParaRPr lang="en-US"/>
          </a:p>
        </p:txBody>
      </p:sp>
      <p:sp>
        <p:nvSpPr>
          <p:cNvPr id="21" name="AutoShape 21"/>
          <p:cNvSpPr/>
          <p:nvPr/>
        </p:nvSpPr>
        <p:spPr>
          <a:xfrm>
            <a:off x="1115524" y="6486319"/>
            <a:ext cx="12334533" cy="0"/>
          </a:xfrm>
          <a:prstGeom prst="line">
            <a:avLst/>
          </a:prstGeom>
          <a:ln w="28575" cap="flat">
            <a:solidFill>
              <a:srgbClr val="292961"/>
            </a:solidFill>
            <a:prstDash val="solid"/>
            <a:headEnd type="none" w="sm" len="sm"/>
            <a:tailEnd type="none" w="sm" len="sm"/>
          </a:ln>
        </p:spPr>
        <p:txBody>
          <a:bodyPr/>
          <a:lstStyle/>
          <a:p>
            <a:endParaRPr lang="en-US"/>
          </a:p>
        </p:txBody>
      </p:sp>
      <p:sp>
        <p:nvSpPr>
          <p:cNvPr id="22" name="TextBox 22"/>
          <p:cNvSpPr txBox="1"/>
          <p:nvPr/>
        </p:nvSpPr>
        <p:spPr>
          <a:xfrm>
            <a:off x="1028700" y="971550"/>
            <a:ext cx="16230600" cy="537845"/>
          </a:xfrm>
          <a:prstGeom prst="rect">
            <a:avLst/>
          </a:prstGeom>
        </p:spPr>
        <p:txBody>
          <a:bodyPr lIns="0" tIns="0" rIns="0" bIns="0" rtlCol="0" anchor="t">
            <a:spAutoFit/>
          </a:bodyPr>
          <a:lstStyle/>
          <a:p>
            <a:pPr marL="0" lvl="0" indent="0" algn="just">
              <a:lnSpc>
                <a:spcPts val="4480"/>
              </a:lnSpc>
              <a:spcBef>
                <a:spcPct val="0"/>
              </a:spcBef>
            </a:pPr>
            <a:r>
              <a:rPr lang="en-US" sz="3200" b="1">
                <a:solidFill>
                  <a:srgbClr val="292961"/>
                </a:solidFill>
                <a:latin typeface="Open Sauce Bold"/>
                <a:ea typeface="Open Sauce Bold"/>
                <a:cs typeface="Open Sauce Bold"/>
                <a:sym typeface="Open Sauce Bold"/>
              </a:rPr>
              <a:t>BOOST UPSELL CAPABILITY</a:t>
            </a:r>
          </a:p>
        </p:txBody>
      </p:sp>
      <p:sp>
        <p:nvSpPr>
          <p:cNvPr id="23" name="TextBox 23"/>
          <p:cNvSpPr txBox="1"/>
          <p:nvPr/>
        </p:nvSpPr>
        <p:spPr>
          <a:xfrm>
            <a:off x="7960546" y="7647475"/>
            <a:ext cx="2352498" cy="1153795"/>
          </a:xfrm>
          <a:prstGeom prst="rect">
            <a:avLst/>
          </a:prstGeom>
        </p:spPr>
        <p:txBody>
          <a:bodyPr lIns="0" tIns="0" rIns="0" bIns="0" rtlCol="0" anchor="t">
            <a:spAutoFit/>
          </a:bodyPr>
          <a:lstStyle/>
          <a:p>
            <a:pPr algn="ctr">
              <a:lnSpc>
                <a:spcPts val="3079"/>
              </a:lnSpc>
              <a:spcBef>
                <a:spcPct val="0"/>
              </a:spcBef>
            </a:pPr>
            <a:r>
              <a:rPr lang="en-US" sz="2199">
                <a:solidFill>
                  <a:srgbClr val="F3F2F0"/>
                </a:solidFill>
                <a:latin typeface="Open Sans"/>
                <a:ea typeface="Open Sans"/>
                <a:cs typeface="Open Sans"/>
                <a:sym typeface="Open Sans"/>
              </a:rPr>
              <a:t>Growing demand for sustainable fabrics</a:t>
            </a:r>
          </a:p>
        </p:txBody>
      </p:sp>
      <p:sp>
        <p:nvSpPr>
          <p:cNvPr id="24" name="TextBox 24"/>
          <p:cNvSpPr txBox="1"/>
          <p:nvPr/>
        </p:nvSpPr>
        <p:spPr>
          <a:xfrm>
            <a:off x="11000705" y="7647475"/>
            <a:ext cx="2408755" cy="1153795"/>
          </a:xfrm>
          <a:prstGeom prst="rect">
            <a:avLst/>
          </a:prstGeom>
        </p:spPr>
        <p:txBody>
          <a:bodyPr lIns="0" tIns="0" rIns="0" bIns="0" rtlCol="0" anchor="t">
            <a:spAutoFit/>
          </a:bodyPr>
          <a:lstStyle/>
          <a:p>
            <a:pPr algn="ctr">
              <a:lnSpc>
                <a:spcPts val="3079"/>
              </a:lnSpc>
              <a:spcBef>
                <a:spcPct val="0"/>
              </a:spcBef>
            </a:pPr>
            <a:r>
              <a:rPr lang="en-US" sz="2199">
                <a:solidFill>
                  <a:srgbClr val="F3F2F0"/>
                </a:solidFill>
                <a:latin typeface="Open Sans"/>
                <a:ea typeface="Open Sans"/>
                <a:cs typeface="Open Sans"/>
                <a:sym typeface="Open Sans"/>
              </a:rPr>
              <a:t>Preference for flexible payment options</a:t>
            </a:r>
          </a:p>
        </p:txBody>
      </p:sp>
      <p:sp>
        <p:nvSpPr>
          <p:cNvPr id="25" name="TextBox 25"/>
          <p:cNvSpPr txBox="1"/>
          <p:nvPr/>
        </p:nvSpPr>
        <p:spPr>
          <a:xfrm>
            <a:off x="13830300" y="7647475"/>
            <a:ext cx="2906591" cy="1153795"/>
          </a:xfrm>
          <a:prstGeom prst="rect">
            <a:avLst/>
          </a:prstGeom>
        </p:spPr>
        <p:txBody>
          <a:bodyPr lIns="0" tIns="0" rIns="0" bIns="0" rtlCol="0" anchor="t">
            <a:spAutoFit/>
          </a:bodyPr>
          <a:lstStyle/>
          <a:p>
            <a:pPr algn="ctr">
              <a:lnSpc>
                <a:spcPts val="3079"/>
              </a:lnSpc>
              <a:spcBef>
                <a:spcPct val="0"/>
              </a:spcBef>
            </a:pPr>
            <a:r>
              <a:rPr lang="en-US" sz="2199">
                <a:solidFill>
                  <a:srgbClr val="F3F2F0"/>
                </a:solidFill>
                <a:latin typeface="Open Sans"/>
                <a:ea typeface="Open Sans"/>
                <a:cs typeface="Open Sans"/>
                <a:sym typeface="Open Sans"/>
              </a:rPr>
              <a:t>High engagement with seasonal promotions</a:t>
            </a:r>
          </a:p>
        </p:txBody>
      </p:sp>
      <p:sp>
        <p:nvSpPr>
          <p:cNvPr id="26" name="TextBox 26"/>
          <p:cNvSpPr txBox="1"/>
          <p:nvPr/>
        </p:nvSpPr>
        <p:spPr>
          <a:xfrm>
            <a:off x="969794" y="9365845"/>
            <a:ext cx="1595909" cy="328295"/>
          </a:xfrm>
          <a:prstGeom prst="rect">
            <a:avLst/>
          </a:prstGeom>
        </p:spPr>
        <p:txBody>
          <a:bodyPr wrap="square" lIns="0" tIns="0" rIns="0" bIns="0" rtlCol="0" anchor="t">
            <a:spAutoFit/>
          </a:bodyPr>
          <a:lstStyle/>
          <a:p>
            <a:pPr algn="ctr">
              <a:lnSpc>
                <a:spcPts val="2800"/>
              </a:lnSpc>
            </a:pPr>
            <a:r>
              <a:rPr lang="en-US" sz="2000" dirty="0">
                <a:solidFill>
                  <a:srgbClr val="000000"/>
                </a:solidFill>
                <a:latin typeface="Open Sauce"/>
                <a:ea typeface="Open Sauce"/>
                <a:cs typeface="Open Sauce"/>
                <a:sym typeface="Open Sauce"/>
              </a:rPr>
              <a:t>Background</a:t>
            </a:r>
          </a:p>
        </p:txBody>
      </p:sp>
      <p:sp>
        <p:nvSpPr>
          <p:cNvPr id="27" name="TextBox 27"/>
          <p:cNvSpPr txBox="1"/>
          <p:nvPr/>
        </p:nvSpPr>
        <p:spPr>
          <a:xfrm>
            <a:off x="4825370" y="9365845"/>
            <a:ext cx="1624266" cy="328295"/>
          </a:xfrm>
          <a:prstGeom prst="rect">
            <a:avLst/>
          </a:prstGeom>
        </p:spPr>
        <p:txBody>
          <a:bodyPr wrap="square" lIns="0" tIns="0" rIns="0" bIns="0" rtlCol="0" anchor="t">
            <a:spAutoFit/>
          </a:bodyPr>
          <a:lstStyle/>
          <a:p>
            <a:pPr algn="ctr">
              <a:lnSpc>
                <a:spcPts val="2800"/>
              </a:lnSpc>
            </a:pPr>
            <a:r>
              <a:rPr lang="en-US" sz="2000" dirty="0">
                <a:solidFill>
                  <a:srgbClr val="000000"/>
                </a:solidFill>
                <a:latin typeface="Open Sauce"/>
                <a:ea typeface="Open Sauce"/>
                <a:cs typeface="Open Sauce"/>
                <a:sym typeface="Open Sauce"/>
              </a:rPr>
              <a:t>Key </a:t>
            </a:r>
            <a:r>
              <a:rPr lang="en-US" sz="2000" dirty="0" err="1">
                <a:solidFill>
                  <a:srgbClr val="000000"/>
                </a:solidFill>
                <a:latin typeface="Open Sauce"/>
                <a:ea typeface="Open Sauce"/>
                <a:cs typeface="Open Sauce"/>
                <a:sym typeface="Open Sauce"/>
              </a:rPr>
              <a:t>isssues</a:t>
            </a:r>
            <a:endParaRPr lang="en-US" sz="2000" dirty="0">
              <a:solidFill>
                <a:srgbClr val="000000"/>
              </a:solidFill>
              <a:latin typeface="Open Sauce"/>
              <a:ea typeface="Open Sauce"/>
              <a:cs typeface="Open Sauce"/>
              <a:sym typeface="Open Sauce"/>
            </a:endParaRPr>
          </a:p>
        </p:txBody>
      </p:sp>
      <p:sp>
        <p:nvSpPr>
          <p:cNvPr id="28" name="TextBox 28"/>
          <p:cNvSpPr txBox="1"/>
          <p:nvPr/>
        </p:nvSpPr>
        <p:spPr>
          <a:xfrm>
            <a:off x="8888375" y="9365846"/>
            <a:ext cx="1019249" cy="349250"/>
          </a:xfrm>
          <a:prstGeom prst="rect">
            <a:avLst/>
          </a:prstGeom>
        </p:spPr>
        <p:txBody>
          <a:bodyPr lIns="0" tIns="0" rIns="0" bIns="0" rtlCol="0" anchor="t">
            <a:spAutoFit/>
          </a:bodyPr>
          <a:lstStyle/>
          <a:p>
            <a:pPr algn="ctr">
              <a:lnSpc>
                <a:spcPts val="2800"/>
              </a:lnSpc>
            </a:pPr>
            <a:r>
              <a:rPr lang="en-US" sz="2000">
                <a:solidFill>
                  <a:srgbClr val="000000"/>
                </a:solidFill>
                <a:latin typeface="Open Sauce"/>
                <a:ea typeface="Open Sauce"/>
                <a:cs typeface="Open Sauce"/>
                <a:sym typeface="Open Sauce"/>
              </a:rPr>
              <a:t>Analysis</a:t>
            </a:r>
          </a:p>
        </p:txBody>
      </p:sp>
      <p:sp>
        <p:nvSpPr>
          <p:cNvPr id="29" name="TextBox 29"/>
          <p:cNvSpPr txBox="1"/>
          <p:nvPr/>
        </p:nvSpPr>
        <p:spPr>
          <a:xfrm>
            <a:off x="12167290" y="9350209"/>
            <a:ext cx="2227734" cy="328295"/>
          </a:xfrm>
          <a:prstGeom prst="rect">
            <a:avLst/>
          </a:prstGeom>
        </p:spPr>
        <p:txBody>
          <a:bodyPr lIns="0" tIns="0" rIns="0" bIns="0" rtlCol="0" anchor="t">
            <a:spAutoFit/>
          </a:bodyPr>
          <a:lstStyle/>
          <a:p>
            <a:pPr algn="ctr">
              <a:lnSpc>
                <a:spcPts val="2800"/>
              </a:lnSpc>
            </a:pPr>
            <a:r>
              <a:rPr lang="en-US" sz="2000" b="1" dirty="0">
                <a:solidFill>
                  <a:srgbClr val="FFFFFF"/>
                </a:solidFill>
                <a:highlight>
                  <a:srgbClr val="000000"/>
                </a:highlight>
                <a:latin typeface="Open Sauce Bold"/>
                <a:ea typeface="Open Sauce Bold"/>
                <a:cs typeface="Open Sauce Bold"/>
                <a:sym typeface="Open Sauce Bold"/>
              </a:rPr>
              <a:t>Recommendation</a:t>
            </a:r>
          </a:p>
        </p:txBody>
      </p:sp>
      <p:sp>
        <p:nvSpPr>
          <p:cNvPr id="30" name="TextBox 30"/>
          <p:cNvSpPr txBox="1"/>
          <p:nvPr/>
        </p:nvSpPr>
        <p:spPr>
          <a:xfrm>
            <a:off x="16509002" y="9350209"/>
            <a:ext cx="1162794" cy="349250"/>
          </a:xfrm>
          <a:prstGeom prst="rect">
            <a:avLst/>
          </a:prstGeom>
        </p:spPr>
        <p:txBody>
          <a:bodyPr lIns="0" tIns="0" rIns="0" bIns="0" rtlCol="0" anchor="t">
            <a:spAutoFit/>
          </a:bodyPr>
          <a:lstStyle/>
          <a:p>
            <a:pPr algn="ctr">
              <a:lnSpc>
                <a:spcPts val="2800"/>
              </a:lnSpc>
            </a:pPr>
            <a:r>
              <a:rPr lang="en-US" sz="2000">
                <a:solidFill>
                  <a:srgbClr val="000000"/>
                </a:solidFill>
                <a:latin typeface="Open Sauce"/>
                <a:ea typeface="Open Sauce"/>
                <a:cs typeface="Open Sauce"/>
                <a:sym typeface="Open Sauce"/>
              </a:rPr>
              <a:t>Appendix</a:t>
            </a:r>
          </a:p>
        </p:txBody>
      </p:sp>
      <p:sp>
        <p:nvSpPr>
          <p:cNvPr id="31" name="TextBox 31"/>
          <p:cNvSpPr txBox="1"/>
          <p:nvPr/>
        </p:nvSpPr>
        <p:spPr>
          <a:xfrm>
            <a:off x="1109110" y="2006216"/>
            <a:ext cx="5340526" cy="422275"/>
          </a:xfrm>
          <a:prstGeom prst="rect">
            <a:avLst/>
          </a:prstGeom>
        </p:spPr>
        <p:txBody>
          <a:bodyPr lIns="0" tIns="0" rIns="0" bIns="0" rtlCol="0" anchor="t">
            <a:spAutoFit/>
          </a:bodyPr>
          <a:lstStyle/>
          <a:p>
            <a:pPr algn="l">
              <a:lnSpc>
                <a:spcPts val="3499"/>
              </a:lnSpc>
            </a:pPr>
            <a:r>
              <a:rPr lang="en-US" sz="2499" b="1">
                <a:solidFill>
                  <a:srgbClr val="292961"/>
                </a:solidFill>
                <a:latin typeface="Open Sauce Bold"/>
                <a:ea typeface="Open Sauce Bold"/>
                <a:cs typeface="Open Sauce Bold"/>
                <a:sym typeface="Open Sauce Bold"/>
              </a:rPr>
              <a:t>PREPARATION</a:t>
            </a:r>
          </a:p>
        </p:txBody>
      </p:sp>
      <p:sp>
        <p:nvSpPr>
          <p:cNvPr id="32" name="TextBox 32"/>
          <p:cNvSpPr txBox="1"/>
          <p:nvPr/>
        </p:nvSpPr>
        <p:spPr>
          <a:xfrm>
            <a:off x="969795" y="2577507"/>
            <a:ext cx="16289505" cy="1125494"/>
          </a:xfrm>
          <a:prstGeom prst="rect">
            <a:avLst/>
          </a:prstGeom>
        </p:spPr>
        <p:txBody>
          <a:bodyPr lIns="0" tIns="0" rIns="0" bIns="0" rtlCol="0" anchor="t">
            <a:spAutoFit/>
          </a:bodyPr>
          <a:lstStyle/>
          <a:p>
            <a:pPr marL="472648" lvl="1" indent="-236324" algn="l">
              <a:lnSpc>
                <a:spcPts val="3064"/>
              </a:lnSpc>
              <a:buFont typeface="Arial"/>
              <a:buChar char="•"/>
            </a:pPr>
            <a:r>
              <a:rPr lang="en-US" sz="2189">
                <a:solidFill>
                  <a:srgbClr val="292961"/>
                </a:solidFill>
                <a:latin typeface="Open Sauce"/>
                <a:ea typeface="Open Sauce"/>
                <a:cs typeface="Open Sauce"/>
                <a:sym typeface="Open Sauce"/>
              </a:rPr>
              <a:t>Identify purchasing patterns: products that are usually purchased together, APT &amp; UPT for each category and type</a:t>
            </a:r>
          </a:p>
          <a:p>
            <a:pPr marL="472648" lvl="1" indent="-236324" algn="l">
              <a:lnSpc>
                <a:spcPts val="3064"/>
              </a:lnSpc>
              <a:buFont typeface="Arial"/>
              <a:buChar char="•"/>
            </a:pPr>
            <a:r>
              <a:rPr lang="en-US" sz="2189">
                <a:solidFill>
                  <a:srgbClr val="292961"/>
                </a:solidFill>
                <a:latin typeface="Open Sauce"/>
                <a:ea typeface="Open Sauce"/>
                <a:cs typeface="Open Sauce"/>
                <a:sym typeface="Open Sauce"/>
              </a:rPr>
              <a:t>Create full-set outfits that are lower in price when purchasing individually</a:t>
            </a:r>
          </a:p>
          <a:p>
            <a:pPr marL="472648" lvl="1" indent="-236324" algn="l">
              <a:lnSpc>
                <a:spcPts val="3064"/>
              </a:lnSpc>
              <a:buFont typeface="Arial"/>
              <a:buChar char="•"/>
            </a:pPr>
            <a:r>
              <a:rPr lang="en-US" sz="2189">
                <a:solidFill>
                  <a:srgbClr val="292961"/>
                </a:solidFill>
                <a:latin typeface="Open Sauce"/>
                <a:ea typeface="Open Sauce"/>
                <a:cs typeface="Open Sauce"/>
                <a:sym typeface="Open Sauce"/>
              </a:rPr>
              <a:t>Train staff on recommendation and styling advice for customers</a:t>
            </a:r>
          </a:p>
        </p:txBody>
      </p:sp>
      <p:sp>
        <p:nvSpPr>
          <p:cNvPr id="33" name="TextBox 33"/>
          <p:cNvSpPr txBox="1"/>
          <p:nvPr/>
        </p:nvSpPr>
        <p:spPr>
          <a:xfrm>
            <a:off x="1109110" y="4409912"/>
            <a:ext cx="5340526" cy="422275"/>
          </a:xfrm>
          <a:prstGeom prst="rect">
            <a:avLst/>
          </a:prstGeom>
        </p:spPr>
        <p:txBody>
          <a:bodyPr lIns="0" tIns="0" rIns="0" bIns="0" rtlCol="0" anchor="t">
            <a:spAutoFit/>
          </a:bodyPr>
          <a:lstStyle/>
          <a:p>
            <a:pPr algn="l">
              <a:lnSpc>
                <a:spcPts val="3499"/>
              </a:lnSpc>
            </a:pPr>
            <a:r>
              <a:rPr lang="en-US" sz="2499" b="1">
                <a:solidFill>
                  <a:srgbClr val="292961"/>
                </a:solidFill>
                <a:latin typeface="Open Sauce Bold"/>
                <a:ea typeface="Open Sauce Bold"/>
                <a:cs typeface="Open Sauce Bold"/>
                <a:sym typeface="Open Sauce Bold"/>
              </a:rPr>
              <a:t>IMPLEMENTATION</a:t>
            </a:r>
          </a:p>
        </p:txBody>
      </p:sp>
      <p:sp>
        <p:nvSpPr>
          <p:cNvPr id="34" name="TextBox 34"/>
          <p:cNvSpPr txBox="1"/>
          <p:nvPr/>
        </p:nvSpPr>
        <p:spPr>
          <a:xfrm>
            <a:off x="1115524" y="6814931"/>
            <a:ext cx="5340526" cy="422275"/>
          </a:xfrm>
          <a:prstGeom prst="rect">
            <a:avLst/>
          </a:prstGeom>
        </p:spPr>
        <p:txBody>
          <a:bodyPr lIns="0" tIns="0" rIns="0" bIns="0" rtlCol="0" anchor="t">
            <a:spAutoFit/>
          </a:bodyPr>
          <a:lstStyle/>
          <a:p>
            <a:pPr algn="l">
              <a:lnSpc>
                <a:spcPts val="3499"/>
              </a:lnSpc>
            </a:pPr>
            <a:r>
              <a:rPr lang="en-US" sz="2499" b="1">
                <a:solidFill>
                  <a:srgbClr val="292961"/>
                </a:solidFill>
                <a:latin typeface="Open Sauce Bold"/>
                <a:ea typeface="Open Sauce Bold"/>
                <a:cs typeface="Open Sauce Bold"/>
                <a:sym typeface="Open Sauce Bold"/>
              </a:rPr>
              <a:t>MEASUREMENT</a:t>
            </a:r>
          </a:p>
        </p:txBody>
      </p:sp>
      <p:sp>
        <p:nvSpPr>
          <p:cNvPr id="35" name="TextBox 35"/>
          <p:cNvSpPr txBox="1"/>
          <p:nvPr/>
        </p:nvSpPr>
        <p:spPr>
          <a:xfrm>
            <a:off x="981542" y="4984587"/>
            <a:ext cx="13099117" cy="1125494"/>
          </a:xfrm>
          <a:prstGeom prst="rect">
            <a:avLst/>
          </a:prstGeom>
        </p:spPr>
        <p:txBody>
          <a:bodyPr lIns="0" tIns="0" rIns="0" bIns="0" rtlCol="0" anchor="t">
            <a:spAutoFit/>
          </a:bodyPr>
          <a:lstStyle/>
          <a:p>
            <a:pPr marL="472648" lvl="1" indent="-236324" algn="l">
              <a:lnSpc>
                <a:spcPts val="3064"/>
              </a:lnSpc>
              <a:buFont typeface="Arial"/>
              <a:buChar char="•"/>
            </a:pPr>
            <a:r>
              <a:rPr lang="en-US" sz="2189">
                <a:solidFill>
                  <a:srgbClr val="292961"/>
                </a:solidFill>
                <a:latin typeface="Open Sauce"/>
                <a:ea typeface="Open Sauce"/>
                <a:cs typeface="Open Sauce"/>
                <a:sym typeface="Open Sauce"/>
              </a:rPr>
              <a:t>Introduce promotions such as: Buy 2 get 10% off</a:t>
            </a:r>
          </a:p>
          <a:p>
            <a:pPr marL="472648" lvl="1" indent="-236324" algn="l">
              <a:lnSpc>
                <a:spcPts val="3064"/>
              </a:lnSpc>
              <a:buFont typeface="Arial"/>
              <a:buChar char="•"/>
            </a:pPr>
            <a:r>
              <a:rPr lang="en-US" sz="2189">
                <a:solidFill>
                  <a:srgbClr val="292961"/>
                </a:solidFill>
                <a:latin typeface="Open Sauce"/>
                <a:ea typeface="Open Sauce"/>
                <a:cs typeface="Open Sauce"/>
                <a:sym typeface="Open Sauce"/>
              </a:rPr>
              <a:t>Place mannequins with full outfits in noticeable places in shop</a:t>
            </a:r>
          </a:p>
          <a:p>
            <a:pPr marL="472648" lvl="1" indent="-236324" algn="l">
              <a:lnSpc>
                <a:spcPts val="3064"/>
              </a:lnSpc>
              <a:buFont typeface="Arial"/>
              <a:buChar char="•"/>
            </a:pPr>
            <a:r>
              <a:rPr lang="en-US" sz="2189">
                <a:solidFill>
                  <a:srgbClr val="292961"/>
                </a:solidFill>
                <a:latin typeface="Open Sauce"/>
                <a:ea typeface="Open Sauce"/>
                <a:cs typeface="Open Sauce"/>
                <a:sym typeface="Open Sauce"/>
              </a:rPr>
              <a:t>Arrange products based on outfit combinations and looking good when mix-match</a:t>
            </a:r>
          </a:p>
        </p:txBody>
      </p:sp>
      <p:sp>
        <p:nvSpPr>
          <p:cNvPr id="36" name="TextBox 36"/>
          <p:cNvSpPr txBox="1"/>
          <p:nvPr/>
        </p:nvSpPr>
        <p:spPr>
          <a:xfrm>
            <a:off x="969795" y="7389607"/>
            <a:ext cx="16289505" cy="744494"/>
          </a:xfrm>
          <a:prstGeom prst="rect">
            <a:avLst/>
          </a:prstGeom>
        </p:spPr>
        <p:txBody>
          <a:bodyPr lIns="0" tIns="0" rIns="0" bIns="0" rtlCol="0" anchor="t">
            <a:spAutoFit/>
          </a:bodyPr>
          <a:lstStyle/>
          <a:p>
            <a:pPr marL="472648" lvl="1" indent="-236324" algn="l">
              <a:lnSpc>
                <a:spcPts val="3064"/>
              </a:lnSpc>
              <a:buFont typeface="Arial"/>
              <a:buChar char="•"/>
            </a:pPr>
            <a:r>
              <a:rPr lang="en-US" sz="2189">
                <a:solidFill>
                  <a:srgbClr val="292961"/>
                </a:solidFill>
                <a:latin typeface="Open Sauce"/>
                <a:ea typeface="Open Sauce"/>
                <a:cs typeface="Open Sauce"/>
                <a:sym typeface="Open Sauce"/>
              </a:rPr>
              <a:t>Compare sales performance before and after implementation</a:t>
            </a:r>
          </a:p>
          <a:p>
            <a:pPr marL="472648" lvl="1" indent="-236324" algn="l">
              <a:lnSpc>
                <a:spcPts val="3064"/>
              </a:lnSpc>
              <a:buFont typeface="Arial"/>
              <a:buChar char="•"/>
            </a:pPr>
            <a:r>
              <a:rPr lang="en-US" sz="2189">
                <a:solidFill>
                  <a:srgbClr val="292961"/>
                </a:solidFill>
                <a:latin typeface="Open Sauce"/>
                <a:ea typeface="Open Sauce"/>
                <a:cs typeface="Open Sauce"/>
                <a:sym typeface="Open Sauce"/>
              </a:rPr>
              <a:t>Track UPT, APT, average items per bill, adoption rate of bundle purchases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3F2F0"/>
        </a:solidFill>
        <a:effectLst/>
      </p:bgPr>
    </p:bg>
    <p:spTree>
      <p:nvGrpSpPr>
        <p:cNvPr id="1" name=""/>
        <p:cNvGrpSpPr/>
        <p:nvPr/>
      </p:nvGrpSpPr>
      <p:grpSpPr>
        <a:xfrm>
          <a:off x="0" y="0"/>
          <a:ext cx="0" cy="0"/>
          <a:chOff x="0" y="0"/>
          <a:chExt cx="0" cy="0"/>
        </a:xfrm>
      </p:grpSpPr>
      <p:grpSp>
        <p:nvGrpSpPr>
          <p:cNvPr id="2" name="Group 2"/>
          <p:cNvGrpSpPr/>
          <p:nvPr/>
        </p:nvGrpSpPr>
        <p:grpSpPr>
          <a:xfrm>
            <a:off x="1536700" y="8925252"/>
            <a:ext cx="337802" cy="337802"/>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5382900" y="8920498"/>
            <a:ext cx="337802" cy="33780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8" name="AutoShape 8"/>
          <p:cNvSpPr/>
          <p:nvPr/>
        </p:nvSpPr>
        <p:spPr>
          <a:xfrm>
            <a:off x="1076706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sp>
        <p:nvSpPr>
          <p:cNvPr id="9" name="AutoShape 9"/>
          <p:cNvSpPr/>
          <p:nvPr/>
        </p:nvSpPr>
        <p:spPr>
          <a:xfrm>
            <a:off x="802894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10" name="Group 10"/>
          <p:cNvGrpSpPr/>
          <p:nvPr/>
        </p:nvGrpSpPr>
        <p:grpSpPr>
          <a:xfrm>
            <a:off x="9229099" y="8920498"/>
            <a:ext cx="337802" cy="33780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6921498" y="8920498"/>
            <a:ext cx="337802" cy="337802"/>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en-US"/>
            </a:p>
          </p:txBody>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3112256" y="8920498"/>
            <a:ext cx="337802" cy="337802"/>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AutoShape 19"/>
          <p:cNvSpPr/>
          <p:nvPr/>
        </p:nvSpPr>
        <p:spPr>
          <a:xfrm>
            <a:off x="1536700" y="9094153"/>
            <a:ext cx="6492240" cy="0"/>
          </a:xfrm>
          <a:prstGeom prst="line">
            <a:avLst/>
          </a:prstGeom>
          <a:ln w="38100" cap="flat">
            <a:solidFill>
              <a:srgbClr val="FFFFFF"/>
            </a:solidFill>
            <a:prstDash val="solid"/>
            <a:headEnd type="none" w="sm" len="sm"/>
            <a:tailEnd type="none" w="sm" len="sm"/>
          </a:ln>
        </p:spPr>
        <p:txBody>
          <a:bodyPr/>
          <a:lstStyle/>
          <a:p>
            <a:endParaRPr lang="en-US"/>
          </a:p>
        </p:txBody>
      </p:sp>
      <p:sp>
        <p:nvSpPr>
          <p:cNvPr id="20" name="Freeform 20"/>
          <p:cNvSpPr/>
          <p:nvPr/>
        </p:nvSpPr>
        <p:spPr>
          <a:xfrm>
            <a:off x="1128827" y="528428"/>
            <a:ext cx="16200544" cy="8087270"/>
          </a:xfrm>
          <a:custGeom>
            <a:avLst/>
            <a:gdLst/>
            <a:ahLst/>
            <a:cxnLst/>
            <a:rect l="l" t="t" r="r" b="b"/>
            <a:pathLst>
              <a:path w="16200544" h="8087270">
                <a:moveTo>
                  <a:pt x="0" y="0"/>
                </a:moveTo>
                <a:lnTo>
                  <a:pt x="16200544" y="0"/>
                </a:lnTo>
                <a:lnTo>
                  <a:pt x="16200544" y="8087270"/>
                </a:lnTo>
                <a:lnTo>
                  <a:pt x="0" y="8087270"/>
                </a:lnTo>
                <a:lnTo>
                  <a:pt x="0" y="0"/>
                </a:lnTo>
                <a:close/>
              </a:path>
            </a:pathLst>
          </a:custGeom>
          <a:blipFill>
            <a:blip r:embed="rId2"/>
            <a:stretch>
              <a:fillRect/>
            </a:stretch>
          </a:blipFill>
        </p:spPr>
        <p:txBody>
          <a:bodyPr/>
          <a:lstStyle/>
          <a:p>
            <a:endParaRPr lang="en-US"/>
          </a:p>
        </p:txBody>
      </p:sp>
      <p:sp>
        <p:nvSpPr>
          <p:cNvPr id="21" name="TextBox 21"/>
          <p:cNvSpPr txBox="1"/>
          <p:nvPr/>
        </p:nvSpPr>
        <p:spPr>
          <a:xfrm>
            <a:off x="969794" y="9365846"/>
            <a:ext cx="1697205" cy="328295"/>
          </a:xfrm>
          <a:prstGeom prst="rect">
            <a:avLst/>
          </a:prstGeom>
        </p:spPr>
        <p:txBody>
          <a:bodyPr wrap="square" lIns="0" tIns="0" rIns="0" bIns="0" rtlCol="0" anchor="t">
            <a:spAutoFit/>
          </a:bodyPr>
          <a:lstStyle/>
          <a:p>
            <a:pPr algn="ctr">
              <a:lnSpc>
                <a:spcPts val="2800"/>
              </a:lnSpc>
            </a:pPr>
            <a:r>
              <a:rPr lang="en-US" sz="2000" dirty="0">
                <a:solidFill>
                  <a:srgbClr val="000000"/>
                </a:solidFill>
                <a:latin typeface="Open Sauce"/>
                <a:ea typeface="Open Sauce"/>
                <a:cs typeface="Open Sauce"/>
                <a:sym typeface="Open Sauce"/>
              </a:rPr>
              <a:t>Background</a:t>
            </a:r>
          </a:p>
        </p:txBody>
      </p:sp>
      <p:sp>
        <p:nvSpPr>
          <p:cNvPr id="22" name="TextBox 22"/>
          <p:cNvSpPr txBox="1"/>
          <p:nvPr/>
        </p:nvSpPr>
        <p:spPr>
          <a:xfrm>
            <a:off x="4825370" y="9365845"/>
            <a:ext cx="1499230" cy="328295"/>
          </a:xfrm>
          <a:prstGeom prst="rect">
            <a:avLst/>
          </a:prstGeom>
        </p:spPr>
        <p:txBody>
          <a:bodyPr wrap="square" lIns="0" tIns="0" rIns="0" bIns="0" rtlCol="0" anchor="t">
            <a:spAutoFit/>
          </a:bodyPr>
          <a:lstStyle/>
          <a:p>
            <a:pPr algn="ctr">
              <a:lnSpc>
                <a:spcPts val="2800"/>
              </a:lnSpc>
            </a:pPr>
            <a:r>
              <a:rPr lang="en-US" sz="2000" dirty="0">
                <a:solidFill>
                  <a:srgbClr val="000000"/>
                </a:solidFill>
                <a:latin typeface="Open Sauce"/>
                <a:ea typeface="Open Sauce"/>
                <a:cs typeface="Open Sauce"/>
                <a:sym typeface="Open Sauce"/>
              </a:rPr>
              <a:t>Key </a:t>
            </a:r>
            <a:r>
              <a:rPr lang="en-US" sz="2000" dirty="0" err="1">
                <a:solidFill>
                  <a:srgbClr val="000000"/>
                </a:solidFill>
                <a:latin typeface="Open Sauce"/>
                <a:ea typeface="Open Sauce"/>
                <a:cs typeface="Open Sauce"/>
                <a:sym typeface="Open Sauce"/>
              </a:rPr>
              <a:t>isssues</a:t>
            </a:r>
            <a:endParaRPr lang="en-US" sz="2000" dirty="0">
              <a:solidFill>
                <a:srgbClr val="000000"/>
              </a:solidFill>
              <a:latin typeface="Open Sauce"/>
              <a:ea typeface="Open Sauce"/>
              <a:cs typeface="Open Sauce"/>
              <a:sym typeface="Open Sauce"/>
            </a:endParaRPr>
          </a:p>
        </p:txBody>
      </p:sp>
      <p:sp>
        <p:nvSpPr>
          <p:cNvPr id="23" name="TextBox 23"/>
          <p:cNvSpPr txBox="1"/>
          <p:nvPr/>
        </p:nvSpPr>
        <p:spPr>
          <a:xfrm>
            <a:off x="8888375" y="9365846"/>
            <a:ext cx="1019249" cy="349250"/>
          </a:xfrm>
          <a:prstGeom prst="rect">
            <a:avLst/>
          </a:prstGeom>
        </p:spPr>
        <p:txBody>
          <a:bodyPr lIns="0" tIns="0" rIns="0" bIns="0" rtlCol="0" anchor="t">
            <a:spAutoFit/>
          </a:bodyPr>
          <a:lstStyle/>
          <a:p>
            <a:pPr algn="ctr">
              <a:lnSpc>
                <a:spcPts val="2800"/>
              </a:lnSpc>
            </a:pPr>
            <a:r>
              <a:rPr lang="en-US" sz="2000">
                <a:solidFill>
                  <a:srgbClr val="000000"/>
                </a:solidFill>
                <a:latin typeface="Open Sauce"/>
                <a:ea typeface="Open Sauce"/>
                <a:cs typeface="Open Sauce"/>
                <a:sym typeface="Open Sauce"/>
              </a:rPr>
              <a:t>Analysis</a:t>
            </a:r>
          </a:p>
        </p:txBody>
      </p:sp>
      <p:sp>
        <p:nvSpPr>
          <p:cNvPr id="24" name="TextBox 24"/>
          <p:cNvSpPr txBox="1"/>
          <p:nvPr/>
        </p:nvSpPr>
        <p:spPr>
          <a:xfrm>
            <a:off x="12197762" y="9350209"/>
            <a:ext cx="2204038" cy="328292"/>
          </a:xfrm>
          <a:prstGeom prst="rect">
            <a:avLst/>
          </a:prstGeom>
        </p:spPr>
        <p:txBody>
          <a:bodyPr wrap="square" lIns="0" tIns="0" rIns="0" bIns="0" rtlCol="0" anchor="t">
            <a:spAutoFit/>
          </a:bodyPr>
          <a:lstStyle/>
          <a:p>
            <a:pPr algn="ctr">
              <a:lnSpc>
                <a:spcPts val="2800"/>
              </a:lnSpc>
            </a:pPr>
            <a:r>
              <a:rPr lang="en-US" sz="2000" dirty="0">
                <a:solidFill>
                  <a:srgbClr val="000000"/>
                </a:solidFill>
                <a:latin typeface="Open Sauce"/>
                <a:ea typeface="Open Sauce"/>
                <a:cs typeface="Open Sauce"/>
                <a:sym typeface="Open Sauce"/>
              </a:rPr>
              <a:t>Recommendation</a:t>
            </a:r>
          </a:p>
        </p:txBody>
      </p:sp>
      <p:sp>
        <p:nvSpPr>
          <p:cNvPr id="25" name="TextBox 25"/>
          <p:cNvSpPr txBox="1"/>
          <p:nvPr/>
        </p:nvSpPr>
        <p:spPr>
          <a:xfrm>
            <a:off x="16490472" y="9350209"/>
            <a:ext cx="1264127" cy="328295"/>
          </a:xfrm>
          <a:prstGeom prst="rect">
            <a:avLst/>
          </a:prstGeom>
        </p:spPr>
        <p:txBody>
          <a:bodyPr wrap="square" lIns="0" tIns="0" rIns="0" bIns="0" rtlCol="0" anchor="t">
            <a:spAutoFit/>
          </a:bodyPr>
          <a:lstStyle/>
          <a:p>
            <a:pPr algn="ctr">
              <a:lnSpc>
                <a:spcPts val="2800"/>
              </a:lnSpc>
            </a:pPr>
            <a:r>
              <a:rPr lang="en-US" sz="2000" b="1" dirty="0">
                <a:solidFill>
                  <a:srgbClr val="FFFFFF"/>
                </a:solidFill>
                <a:highlight>
                  <a:srgbClr val="000000"/>
                </a:highlight>
                <a:latin typeface="Open Sauce Bold"/>
                <a:ea typeface="Open Sauce Bold"/>
                <a:cs typeface="Open Sauce Bold"/>
                <a:sym typeface="Open Sauce Bold"/>
              </a:rPr>
              <a:t>Appendix</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3F2F0"/>
        </a:solidFill>
        <a:effectLst/>
      </p:bgPr>
    </p:bg>
    <p:spTree>
      <p:nvGrpSpPr>
        <p:cNvPr id="1" name=""/>
        <p:cNvGrpSpPr/>
        <p:nvPr/>
      </p:nvGrpSpPr>
      <p:grpSpPr>
        <a:xfrm>
          <a:off x="0" y="0"/>
          <a:ext cx="0" cy="0"/>
          <a:chOff x="0" y="0"/>
          <a:chExt cx="0" cy="0"/>
        </a:xfrm>
      </p:grpSpPr>
      <p:grpSp>
        <p:nvGrpSpPr>
          <p:cNvPr id="2" name="Group 2"/>
          <p:cNvGrpSpPr/>
          <p:nvPr/>
        </p:nvGrpSpPr>
        <p:grpSpPr>
          <a:xfrm>
            <a:off x="1536700" y="9291629"/>
            <a:ext cx="337802" cy="337802"/>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5382900" y="9286875"/>
            <a:ext cx="337802" cy="33780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8" name="AutoShape 8"/>
          <p:cNvSpPr/>
          <p:nvPr/>
        </p:nvSpPr>
        <p:spPr>
          <a:xfrm>
            <a:off x="10767060" y="9460530"/>
            <a:ext cx="6492240" cy="0"/>
          </a:xfrm>
          <a:prstGeom prst="line">
            <a:avLst/>
          </a:prstGeom>
          <a:ln w="38100" cap="flat">
            <a:solidFill>
              <a:srgbClr val="FFFFFF"/>
            </a:solidFill>
            <a:prstDash val="solid"/>
            <a:headEnd type="none" w="sm" len="sm"/>
            <a:tailEnd type="none" w="sm" len="sm"/>
          </a:ln>
        </p:spPr>
        <p:txBody>
          <a:bodyPr/>
          <a:lstStyle/>
          <a:p>
            <a:endParaRPr lang="en-US"/>
          </a:p>
        </p:txBody>
      </p:sp>
      <p:sp>
        <p:nvSpPr>
          <p:cNvPr id="9" name="AutoShape 9"/>
          <p:cNvSpPr/>
          <p:nvPr/>
        </p:nvSpPr>
        <p:spPr>
          <a:xfrm>
            <a:off x="8028940" y="9460530"/>
            <a:ext cx="649224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10" name="Group 10"/>
          <p:cNvGrpSpPr/>
          <p:nvPr/>
        </p:nvGrpSpPr>
        <p:grpSpPr>
          <a:xfrm>
            <a:off x="9229099" y="9286875"/>
            <a:ext cx="337802" cy="33780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6921498" y="9286875"/>
            <a:ext cx="337802" cy="337802"/>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en-US"/>
            </a:p>
          </p:txBody>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3112256" y="9286875"/>
            <a:ext cx="337802" cy="337802"/>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AutoShape 19"/>
          <p:cNvSpPr/>
          <p:nvPr/>
        </p:nvSpPr>
        <p:spPr>
          <a:xfrm>
            <a:off x="1536700" y="9460530"/>
            <a:ext cx="6492240" cy="0"/>
          </a:xfrm>
          <a:prstGeom prst="line">
            <a:avLst/>
          </a:prstGeom>
          <a:ln w="38100" cap="flat">
            <a:solidFill>
              <a:srgbClr val="FFFFFF"/>
            </a:solidFill>
            <a:prstDash val="solid"/>
            <a:headEnd type="none" w="sm" len="sm"/>
            <a:tailEnd type="none" w="sm" len="sm"/>
          </a:ln>
        </p:spPr>
        <p:txBody>
          <a:bodyPr/>
          <a:lstStyle/>
          <a:p>
            <a:endParaRPr lang="en-US"/>
          </a:p>
        </p:txBody>
      </p:sp>
      <p:sp>
        <p:nvSpPr>
          <p:cNvPr id="20" name="Freeform 20"/>
          <p:cNvSpPr/>
          <p:nvPr/>
        </p:nvSpPr>
        <p:spPr>
          <a:xfrm>
            <a:off x="2304401" y="1076639"/>
            <a:ext cx="13679197" cy="7905436"/>
          </a:xfrm>
          <a:custGeom>
            <a:avLst/>
            <a:gdLst/>
            <a:ahLst/>
            <a:cxnLst/>
            <a:rect l="l" t="t" r="r" b="b"/>
            <a:pathLst>
              <a:path w="13679197" h="7905436">
                <a:moveTo>
                  <a:pt x="0" y="0"/>
                </a:moveTo>
                <a:lnTo>
                  <a:pt x="13679198" y="0"/>
                </a:lnTo>
                <a:lnTo>
                  <a:pt x="13679198" y="7905436"/>
                </a:lnTo>
                <a:lnTo>
                  <a:pt x="0" y="7905436"/>
                </a:lnTo>
                <a:lnTo>
                  <a:pt x="0" y="0"/>
                </a:lnTo>
                <a:close/>
              </a:path>
            </a:pathLst>
          </a:custGeom>
          <a:blipFill>
            <a:blip r:embed="rId2"/>
            <a:stretch>
              <a:fillRect/>
            </a:stretch>
          </a:blipFill>
        </p:spPr>
        <p:txBody>
          <a:bodyPr/>
          <a:lstStyle/>
          <a:p>
            <a:endParaRPr lang="en-US"/>
          </a:p>
        </p:txBody>
      </p:sp>
      <p:sp>
        <p:nvSpPr>
          <p:cNvPr id="21" name="TextBox 21"/>
          <p:cNvSpPr txBox="1"/>
          <p:nvPr/>
        </p:nvSpPr>
        <p:spPr>
          <a:xfrm>
            <a:off x="969794" y="9732223"/>
            <a:ext cx="1621005" cy="333600"/>
          </a:xfrm>
          <a:prstGeom prst="rect">
            <a:avLst/>
          </a:prstGeom>
        </p:spPr>
        <p:txBody>
          <a:bodyPr wrap="square" lIns="0" tIns="0" rIns="0" bIns="0" rtlCol="0" anchor="t">
            <a:spAutoFit/>
          </a:bodyPr>
          <a:lstStyle/>
          <a:p>
            <a:pPr algn="ctr">
              <a:lnSpc>
                <a:spcPts val="2800"/>
              </a:lnSpc>
            </a:pPr>
            <a:r>
              <a:rPr lang="en-US" sz="2000" dirty="0">
                <a:solidFill>
                  <a:srgbClr val="000000"/>
                </a:solidFill>
                <a:latin typeface="Open Sauce"/>
                <a:ea typeface="Open Sauce"/>
                <a:cs typeface="Open Sauce"/>
                <a:sym typeface="Open Sauce"/>
              </a:rPr>
              <a:t>Background</a:t>
            </a:r>
          </a:p>
        </p:txBody>
      </p:sp>
      <p:sp>
        <p:nvSpPr>
          <p:cNvPr id="22" name="TextBox 22"/>
          <p:cNvSpPr txBox="1"/>
          <p:nvPr/>
        </p:nvSpPr>
        <p:spPr>
          <a:xfrm>
            <a:off x="4825370" y="9732223"/>
            <a:ext cx="1499230" cy="333600"/>
          </a:xfrm>
          <a:prstGeom prst="rect">
            <a:avLst/>
          </a:prstGeom>
        </p:spPr>
        <p:txBody>
          <a:bodyPr wrap="square" lIns="0" tIns="0" rIns="0" bIns="0" rtlCol="0" anchor="t">
            <a:spAutoFit/>
          </a:bodyPr>
          <a:lstStyle/>
          <a:p>
            <a:pPr algn="ctr">
              <a:lnSpc>
                <a:spcPts val="2800"/>
              </a:lnSpc>
            </a:pPr>
            <a:r>
              <a:rPr lang="en-US" sz="2000" dirty="0">
                <a:solidFill>
                  <a:srgbClr val="000000"/>
                </a:solidFill>
                <a:latin typeface="Open Sauce"/>
                <a:ea typeface="Open Sauce"/>
                <a:cs typeface="Open Sauce"/>
                <a:sym typeface="Open Sauce"/>
              </a:rPr>
              <a:t>Key </a:t>
            </a:r>
            <a:r>
              <a:rPr lang="en-US" sz="2000" dirty="0" err="1">
                <a:solidFill>
                  <a:srgbClr val="000000"/>
                </a:solidFill>
                <a:latin typeface="Open Sauce"/>
                <a:ea typeface="Open Sauce"/>
                <a:cs typeface="Open Sauce"/>
                <a:sym typeface="Open Sauce"/>
              </a:rPr>
              <a:t>isssues</a:t>
            </a:r>
            <a:endParaRPr lang="en-US" sz="2000" dirty="0">
              <a:solidFill>
                <a:srgbClr val="000000"/>
              </a:solidFill>
              <a:latin typeface="Open Sauce"/>
              <a:ea typeface="Open Sauce"/>
              <a:cs typeface="Open Sauce"/>
              <a:sym typeface="Open Sauce"/>
            </a:endParaRPr>
          </a:p>
        </p:txBody>
      </p:sp>
      <p:sp>
        <p:nvSpPr>
          <p:cNvPr id="23" name="TextBox 23"/>
          <p:cNvSpPr txBox="1"/>
          <p:nvPr/>
        </p:nvSpPr>
        <p:spPr>
          <a:xfrm>
            <a:off x="8888375" y="9732223"/>
            <a:ext cx="1019249" cy="349250"/>
          </a:xfrm>
          <a:prstGeom prst="rect">
            <a:avLst/>
          </a:prstGeom>
        </p:spPr>
        <p:txBody>
          <a:bodyPr lIns="0" tIns="0" rIns="0" bIns="0" rtlCol="0" anchor="t">
            <a:spAutoFit/>
          </a:bodyPr>
          <a:lstStyle/>
          <a:p>
            <a:pPr algn="ctr">
              <a:lnSpc>
                <a:spcPts val="2800"/>
              </a:lnSpc>
            </a:pPr>
            <a:r>
              <a:rPr lang="en-US" sz="2000">
                <a:solidFill>
                  <a:srgbClr val="000000"/>
                </a:solidFill>
                <a:latin typeface="Open Sauce"/>
                <a:ea typeface="Open Sauce"/>
                <a:cs typeface="Open Sauce"/>
                <a:sym typeface="Open Sauce"/>
              </a:rPr>
              <a:t>Analysis</a:t>
            </a:r>
          </a:p>
        </p:txBody>
      </p:sp>
      <p:sp>
        <p:nvSpPr>
          <p:cNvPr id="24" name="TextBox 24"/>
          <p:cNvSpPr txBox="1"/>
          <p:nvPr/>
        </p:nvSpPr>
        <p:spPr>
          <a:xfrm>
            <a:off x="12197762" y="9716586"/>
            <a:ext cx="2323418" cy="328295"/>
          </a:xfrm>
          <a:prstGeom prst="rect">
            <a:avLst/>
          </a:prstGeom>
        </p:spPr>
        <p:txBody>
          <a:bodyPr wrap="square" lIns="0" tIns="0" rIns="0" bIns="0" rtlCol="0" anchor="t">
            <a:spAutoFit/>
          </a:bodyPr>
          <a:lstStyle/>
          <a:p>
            <a:pPr algn="ctr">
              <a:lnSpc>
                <a:spcPts val="2800"/>
              </a:lnSpc>
            </a:pPr>
            <a:r>
              <a:rPr lang="en-US" sz="2000" dirty="0">
                <a:solidFill>
                  <a:srgbClr val="000000"/>
                </a:solidFill>
                <a:latin typeface="Open Sauce"/>
                <a:ea typeface="Open Sauce"/>
                <a:cs typeface="Open Sauce"/>
                <a:sym typeface="Open Sauce"/>
              </a:rPr>
              <a:t>Recommendation</a:t>
            </a:r>
          </a:p>
        </p:txBody>
      </p:sp>
      <p:sp>
        <p:nvSpPr>
          <p:cNvPr id="25" name="TextBox 25"/>
          <p:cNvSpPr txBox="1"/>
          <p:nvPr/>
        </p:nvSpPr>
        <p:spPr>
          <a:xfrm>
            <a:off x="16490472" y="9716586"/>
            <a:ext cx="1416527" cy="328269"/>
          </a:xfrm>
          <a:prstGeom prst="rect">
            <a:avLst/>
          </a:prstGeom>
        </p:spPr>
        <p:txBody>
          <a:bodyPr wrap="square" lIns="0" tIns="0" rIns="0" bIns="0" rtlCol="0" anchor="t">
            <a:spAutoFit/>
          </a:bodyPr>
          <a:lstStyle/>
          <a:p>
            <a:pPr algn="ctr">
              <a:lnSpc>
                <a:spcPts val="2800"/>
              </a:lnSpc>
            </a:pPr>
            <a:r>
              <a:rPr lang="en-US" sz="2000" b="1" dirty="0">
                <a:solidFill>
                  <a:schemeClr val="bg1"/>
                </a:solidFill>
                <a:highlight>
                  <a:srgbClr val="000000"/>
                </a:highlight>
                <a:latin typeface="Open Sauce Bold"/>
                <a:ea typeface="Open Sauce Bold"/>
                <a:cs typeface="Open Sauce Bold"/>
                <a:sym typeface="Open Sauce Bold"/>
              </a:rPr>
              <a:t>Appendix</a:t>
            </a:r>
          </a:p>
        </p:txBody>
      </p:sp>
      <p:sp>
        <p:nvSpPr>
          <p:cNvPr id="26" name="TextBox 26"/>
          <p:cNvSpPr txBox="1"/>
          <p:nvPr/>
        </p:nvSpPr>
        <p:spPr>
          <a:xfrm>
            <a:off x="3619978" y="258124"/>
            <a:ext cx="10629421" cy="537845"/>
          </a:xfrm>
          <a:prstGeom prst="rect">
            <a:avLst/>
          </a:prstGeom>
        </p:spPr>
        <p:txBody>
          <a:bodyPr wrap="square" lIns="0" tIns="0" rIns="0" bIns="0" rtlCol="0" anchor="t">
            <a:spAutoFit/>
          </a:bodyPr>
          <a:lstStyle/>
          <a:p>
            <a:pPr algn="ctr">
              <a:lnSpc>
                <a:spcPts val="4480"/>
              </a:lnSpc>
            </a:pPr>
            <a:r>
              <a:rPr lang="en-US" sz="3200" dirty="0">
                <a:solidFill>
                  <a:srgbClr val="000000"/>
                </a:solidFill>
                <a:latin typeface="Open Sauce"/>
                <a:ea typeface="Open Sauce"/>
                <a:cs typeface="Open Sauce"/>
                <a:sym typeface="Open Sauce"/>
              </a:rPr>
              <a:t>All project files are available in this </a:t>
            </a:r>
            <a:r>
              <a:rPr lang="en-US" sz="3200" u="sng" dirty="0">
                <a:solidFill>
                  <a:srgbClr val="000000"/>
                </a:solidFill>
                <a:latin typeface="Open Sauce"/>
                <a:ea typeface="Open Sauce"/>
                <a:cs typeface="Open Sauce"/>
                <a:sym typeface="Open Sauce"/>
                <a:hlinkClick r:id="rId3" tooltip="https://github.com/ThuyTien1209/BB_Analysis.git"/>
              </a:rPr>
              <a:t>GitHub repository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1168</Words>
  <Application>Microsoft Office PowerPoint</Application>
  <PresentationFormat>Custom</PresentationFormat>
  <Paragraphs>168</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Open Sauce</vt:lpstr>
      <vt:lpstr>Open Sauce Bold</vt:lpstr>
      <vt:lpstr>Cinzel Decorative Bold</vt:lpstr>
      <vt:lpstr>Cinzel Decorative</vt:lpstr>
      <vt:lpstr>Calibri</vt:lpstr>
      <vt:lpstr>Arial</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Monochrome Corporate Fashion Retail Presentation</dc:title>
  <cp:lastModifiedBy>Lê Thủy Tiên (31231020076)</cp:lastModifiedBy>
  <cp:revision>2</cp:revision>
  <dcterms:created xsi:type="dcterms:W3CDTF">2006-08-16T00:00:00Z</dcterms:created>
  <dcterms:modified xsi:type="dcterms:W3CDTF">2026-03-14T18:56:25Z</dcterms:modified>
  <dc:identifier>DAHD5_vNyMs</dc:identifier>
</cp:coreProperties>
</file>